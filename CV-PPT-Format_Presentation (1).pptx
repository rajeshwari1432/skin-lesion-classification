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30"/>
  </p:notesMasterIdLst>
  <p:sldIdLst>
    <p:sldId id="256" r:id="rId2"/>
    <p:sldId id="257" r:id="rId3"/>
    <p:sldId id="258" r:id="rId4"/>
    <p:sldId id="259" r:id="rId5"/>
    <p:sldId id="285" r:id="rId6"/>
    <p:sldId id="260" r:id="rId7"/>
    <p:sldId id="275" r:id="rId8"/>
    <p:sldId id="276" r:id="rId9"/>
    <p:sldId id="278" r:id="rId10"/>
    <p:sldId id="279" r:id="rId11"/>
    <p:sldId id="287" r:id="rId12"/>
    <p:sldId id="264" r:id="rId13"/>
    <p:sldId id="286" r:id="rId14"/>
    <p:sldId id="265" r:id="rId15"/>
    <p:sldId id="280" r:id="rId16"/>
    <p:sldId id="281" r:id="rId17"/>
    <p:sldId id="267" r:id="rId18"/>
    <p:sldId id="283" r:id="rId19"/>
    <p:sldId id="288" r:id="rId20"/>
    <p:sldId id="266" r:id="rId21"/>
    <p:sldId id="268" r:id="rId22"/>
    <p:sldId id="284" r:id="rId23"/>
    <p:sldId id="269" r:id="rId24"/>
    <p:sldId id="270" r:id="rId25"/>
    <p:sldId id="271" r:id="rId26"/>
    <p:sldId id="272" r:id="rId27"/>
    <p:sldId id="282" r:id="rId28"/>
    <p:sldId id="274"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D05278-5E4C-4E56-BAF3-980960587669}">
  <a:tblStyle styleId="{00D05278-5E4C-4E56-BAF3-980960587669}"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86E81BE2-1681-EAC3-70F8-B10F98F1C181}"/>
            </a:ext>
          </a:extLst>
        </p:cNvPr>
        <p:cNvGrpSpPr/>
        <p:nvPr/>
      </p:nvGrpSpPr>
      <p:grpSpPr>
        <a:xfrm>
          <a:off x="0" y="0"/>
          <a:ext cx="0" cy="0"/>
          <a:chOff x="0" y="0"/>
          <a:chExt cx="0" cy="0"/>
        </a:xfrm>
      </p:grpSpPr>
      <p:sp>
        <p:nvSpPr>
          <p:cNvPr id="112" name="Google Shape;112;p4:notes">
            <a:extLst>
              <a:ext uri="{FF2B5EF4-FFF2-40B4-BE49-F238E27FC236}">
                <a16:creationId xmlns:a16="http://schemas.microsoft.com/office/drawing/2014/main" id="{FBA43156-1487-7FD7-A5B8-4B41D01582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a:extLst>
              <a:ext uri="{FF2B5EF4-FFF2-40B4-BE49-F238E27FC236}">
                <a16:creationId xmlns:a16="http://schemas.microsoft.com/office/drawing/2014/main" id="{1E8E8737-B888-2C05-DA53-DFB6077131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4563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E8F5DF5F-5FF8-0D4B-24F1-7B78522B9954}"/>
            </a:ext>
          </a:extLst>
        </p:cNvPr>
        <p:cNvGrpSpPr/>
        <p:nvPr/>
      </p:nvGrpSpPr>
      <p:grpSpPr>
        <a:xfrm>
          <a:off x="0" y="0"/>
          <a:ext cx="0" cy="0"/>
          <a:chOff x="0" y="0"/>
          <a:chExt cx="0" cy="0"/>
        </a:xfrm>
      </p:grpSpPr>
      <p:sp>
        <p:nvSpPr>
          <p:cNvPr id="119" name="Google Shape;119;p5:notes">
            <a:extLst>
              <a:ext uri="{FF2B5EF4-FFF2-40B4-BE49-F238E27FC236}">
                <a16:creationId xmlns:a16="http://schemas.microsoft.com/office/drawing/2014/main" id="{32142C04-48AB-B649-9A83-B05111030C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a:extLst>
              <a:ext uri="{FF2B5EF4-FFF2-40B4-BE49-F238E27FC236}">
                <a16:creationId xmlns:a16="http://schemas.microsoft.com/office/drawing/2014/main" id="{A66A33DC-BEE3-C108-039A-7A984DB29C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3309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08591A5E-26C1-BF61-7450-ABD05DE86A9B}"/>
            </a:ext>
          </a:extLst>
        </p:cNvPr>
        <p:cNvGrpSpPr/>
        <p:nvPr/>
      </p:nvGrpSpPr>
      <p:grpSpPr>
        <a:xfrm>
          <a:off x="0" y="0"/>
          <a:ext cx="0" cy="0"/>
          <a:chOff x="0" y="0"/>
          <a:chExt cx="0" cy="0"/>
        </a:xfrm>
      </p:grpSpPr>
      <p:sp>
        <p:nvSpPr>
          <p:cNvPr id="119" name="Google Shape;119;p5:notes">
            <a:extLst>
              <a:ext uri="{FF2B5EF4-FFF2-40B4-BE49-F238E27FC236}">
                <a16:creationId xmlns:a16="http://schemas.microsoft.com/office/drawing/2014/main" id="{BE4A00BB-F586-B21A-81E2-425F2469CDD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a:extLst>
              <a:ext uri="{FF2B5EF4-FFF2-40B4-BE49-F238E27FC236}">
                <a16:creationId xmlns:a16="http://schemas.microsoft.com/office/drawing/2014/main" id="{D9ACE2CF-6848-086D-9938-B9F5ED7880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14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227074D4-78DF-6AC6-733D-224DEBB99644}"/>
            </a:ext>
          </a:extLst>
        </p:cNvPr>
        <p:cNvGrpSpPr/>
        <p:nvPr/>
      </p:nvGrpSpPr>
      <p:grpSpPr>
        <a:xfrm>
          <a:off x="0" y="0"/>
          <a:ext cx="0" cy="0"/>
          <a:chOff x="0" y="0"/>
          <a:chExt cx="0" cy="0"/>
        </a:xfrm>
      </p:grpSpPr>
      <p:sp>
        <p:nvSpPr>
          <p:cNvPr id="119" name="Google Shape;119;p5:notes">
            <a:extLst>
              <a:ext uri="{FF2B5EF4-FFF2-40B4-BE49-F238E27FC236}">
                <a16:creationId xmlns:a16="http://schemas.microsoft.com/office/drawing/2014/main" id="{61DC4723-F6B5-98DE-03FD-FF557611EF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a:extLst>
              <a:ext uri="{FF2B5EF4-FFF2-40B4-BE49-F238E27FC236}">
                <a16:creationId xmlns:a16="http://schemas.microsoft.com/office/drawing/2014/main" id="{947089E7-0B62-371A-578F-2518B4F676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6005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AF9408BD-0985-3D1B-B7F1-F656B82DD51D}"/>
            </a:ext>
          </a:extLst>
        </p:cNvPr>
        <p:cNvGrpSpPr/>
        <p:nvPr/>
      </p:nvGrpSpPr>
      <p:grpSpPr>
        <a:xfrm>
          <a:off x="0" y="0"/>
          <a:ext cx="0" cy="0"/>
          <a:chOff x="0" y="0"/>
          <a:chExt cx="0" cy="0"/>
        </a:xfrm>
      </p:grpSpPr>
      <p:sp>
        <p:nvSpPr>
          <p:cNvPr id="119" name="Google Shape;119;p5:notes">
            <a:extLst>
              <a:ext uri="{FF2B5EF4-FFF2-40B4-BE49-F238E27FC236}">
                <a16:creationId xmlns:a16="http://schemas.microsoft.com/office/drawing/2014/main" id="{DACB33AA-1C94-6406-7510-8D234EFAB9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a:extLst>
              <a:ext uri="{FF2B5EF4-FFF2-40B4-BE49-F238E27FC236}">
                <a16:creationId xmlns:a16="http://schemas.microsoft.com/office/drawing/2014/main" id="{42E16762-E56C-17E2-3606-2A13467C45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1165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832DBC35-3DA3-5144-ADE3-00B134B4F3EC}"/>
            </a:ext>
          </a:extLst>
        </p:cNvPr>
        <p:cNvGrpSpPr/>
        <p:nvPr/>
      </p:nvGrpSpPr>
      <p:grpSpPr>
        <a:xfrm>
          <a:off x="0" y="0"/>
          <a:ext cx="0" cy="0"/>
          <a:chOff x="0" y="0"/>
          <a:chExt cx="0" cy="0"/>
        </a:xfrm>
      </p:grpSpPr>
      <p:sp>
        <p:nvSpPr>
          <p:cNvPr id="146" name="Google Shape;146;p9:notes">
            <a:extLst>
              <a:ext uri="{FF2B5EF4-FFF2-40B4-BE49-F238E27FC236}">
                <a16:creationId xmlns:a16="http://schemas.microsoft.com/office/drawing/2014/main" id="{71ED16DC-8170-8B19-DB40-1C8A8ABA7A1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a:extLst>
              <a:ext uri="{FF2B5EF4-FFF2-40B4-BE49-F238E27FC236}">
                <a16:creationId xmlns:a16="http://schemas.microsoft.com/office/drawing/2014/main" id="{71764D1A-CE83-22BE-34A0-3066D37F28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4831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B1E0449E-5840-61D4-4F1E-518192272E54}"/>
            </a:ext>
          </a:extLst>
        </p:cNvPr>
        <p:cNvGrpSpPr/>
        <p:nvPr/>
      </p:nvGrpSpPr>
      <p:grpSpPr>
        <a:xfrm>
          <a:off x="0" y="0"/>
          <a:ext cx="0" cy="0"/>
          <a:chOff x="0" y="0"/>
          <a:chExt cx="0" cy="0"/>
        </a:xfrm>
      </p:grpSpPr>
      <p:sp>
        <p:nvSpPr>
          <p:cNvPr id="146" name="Google Shape;146;p9:notes">
            <a:extLst>
              <a:ext uri="{FF2B5EF4-FFF2-40B4-BE49-F238E27FC236}">
                <a16:creationId xmlns:a16="http://schemas.microsoft.com/office/drawing/2014/main" id="{46240B9B-095D-0A7B-ECA7-CEFA5744CC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a:extLst>
              <a:ext uri="{FF2B5EF4-FFF2-40B4-BE49-F238E27FC236}">
                <a16:creationId xmlns:a16="http://schemas.microsoft.com/office/drawing/2014/main" id="{5DFE286C-F4AA-CA41-FD96-14E13E9432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7776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C943F2DC-1856-C8B2-068E-56940475B038}"/>
            </a:ext>
          </a:extLst>
        </p:cNvPr>
        <p:cNvGrpSpPr/>
        <p:nvPr/>
      </p:nvGrpSpPr>
      <p:grpSpPr>
        <a:xfrm>
          <a:off x="0" y="0"/>
          <a:ext cx="0" cy="0"/>
          <a:chOff x="0" y="0"/>
          <a:chExt cx="0" cy="0"/>
        </a:xfrm>
      </p:grpSpPr>
      <p:sp>
        <p:nvSpPr>
          <p:cNvPr id="153" name="Google Shape;153;p10:notes">
            <a:extLst>
              <a:ext uri="{FF2B5EF4-FFF2-40B4-BE49-F238E27FC236}">
                <a16:creationId xmlns:a16="http://schemas.microsoft.com/office/drawing/2014/main" id="{B52B00DE-753F-5CBC-ABBE-94C8D9951A6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0:notes">
            <a:extLst>
              <a:ext uri="{FF2B5EF4-FFF2-40B4-BE49-F238E27FC236}">
                <a16:creationId xmlns:a16="http://schemas.microsoft.com/office/drawing/2014/main" id="{1CD3A1AF-D650-C670-5BD2-13B58EB129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3550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90B3F891-1755-082C-84C3-A25960FB43C0}"/>
            </a:ext>
          </a:extLst>
        </p:cNvPr>
        <p:cNvGrpSpPr/>
        <p:nvPr/>
      </p:nvGrpSpPr>
      <p:grpSpPr>
        <a:xfrm>
          <a:off x="0" y="0"/>
          <a:ext cx="0" cy="0"/>
          <a:chOff x="0" y="0"/>
          <a:chExt cx="0" cy="0"/>
        </a:xfrm>
      </p:grpSpPr>
      <p:sp>
        <p:nvSpPr>
          <p:cNvPr id="153" name="Google Shape;153;p10:notes">
            <a:extLst>
              <a:ext uri="{FF2B5EF4-FFF2-40B4-BE49-F238E27FC236}">
                <a16:creationId xmlns:a16="http://schemas.microsoft.com/office/drawing/2014/main" id="{0F6BEE21-BE51-DCD7-D98C-14D5220043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0:notes">
            <a:extLst>
              <a:ext uri="{FF2B5EF4-FFF2-40B4-BE49-F238E27FC236}">
                <a16:creationId xmlns:a16="http://schemas.microsoft.com/office/drawing/2014/main" id="{4D012045-A992-F1AF-59EA-5E1F5905EF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6681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9F1B06EC-8481-7322-2912-3DDA2BA64218}"/>
            </a:ext>
          </a:extLst>
        </p:cNvPr>
        <p:cNvGrpSpPr/>
        <p:nvPr/>
      </p:nvGrpSpPr>
      <p:grpSpPr>
        <a:xfrm>
          <a:off x="0" y="0"/>
          <a:ext cx="0" cy="0"/>
          <a:chOff x="0" y="0"/>
          <a:chExt cx="0" cy="0"/>
        </a:xfrm>
      </p:grpSpPr>
      <p:sp>
        <p:nvSpPr>
          <p:cNvPr id="167" name="Google Shape;167;p12:notes">
            <a:extLst>
              <a:ext uri="{FF2B5EF4-FFF2-40B4-BE49-F238E27FC236}">
                <a16:creationId xmlns:a16="http://schemas.microsoft.com/office/drawing/2014/main" id="{1785AC31-9A8B-B7C7-71AB-7838BB9F38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a:extLst>
              <a:ext uri="{FF2B5EF4-FFF2-40B4-BE49-F238E27FC236}">
                <a16:creationId xmlns:a16="http://schemas.microsoft.com/office/drawing/2014/main" id="{B3C450E6-E106-F07A-FC62-0B7FED7501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9678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5B1CF351-3B28-09BC-D669-70EA3FD1B8DA}"/>
            </a:ext>
          </a:extLst>
        </p:cNvPr>
        <p:cNvGrpSpPr/>
        <p:nvPr/>
      </p:nvGrpSpPr>
      <p:grpSpPr>
        <a:xfrm>
          <a:off x="0" y="0"/>
          <a:ext cx="0" cy="0"/>
          <a:chOff x="0" y="0"/>
          <a:chExt cx="0" cy="0"/>
        </a:xfrm>
      </p:grpSpPr>
      <p:sp>
        <p:nvSpPr>
          <p:cNvPr id="167" name="Google Shape;167;p12:notes">
            <a:extLst>
              <a:ext uri="{FF2B5EF4-FFF2-40B4-BE49-F238E27FC236}">
                <a16:creationId xmlns:a16="http://schemas.microsoft.com/office/drawing/2014/main" id="{B2963829-6C7B-102C-BDF8-CA45BC8D40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a:extLst>
              <a:ext uri="{FF2B5EF4-FFF2-40B4-BE49-F238E27FC236}">
                <a16:creationId xmlns:a16="http://schemas.microsoft.com/office/drawing/2014/main" id="{7278162C-B67E-D5DE-CBB1-D50875411F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034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76" name="Google Shape;17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4E921F54-D28D-B6F2-9C84-AAD94E5FFF68}"/>
            </a:ext>
          </a:extLst>
        </p:cNvPr>
        <p:cNvGrpSpPr/>
        <p:nvPr/>
      </p:nvGrpSpPr>
      <p:grpSpPr>
        <a:xfrm>
          <a:off x="0" y="0"/>
          <a:ext cx="0" cy="0"/>
          <a:chOff x="0" y="0"/>
          <a:chExt cx="0" cy="0"/>
        </a:xfrm>
      </p:grpSpPr>
      <p:sp>
        <p:nvSpPr>
          <p:cNvPr id="174" name="Google Shape;174;p13:notes">
            <a:extLst>
              <a:ext uri="{FF2B5EF4-FFF2-40B4-BE49-F238E27FC236}">
                <a16:creationId xmlns:a16="http://schemas.microsoft.com/office/drawing/2014/main" id="{2CA495CA-E49F-74CA-2047-CECC40E459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3:notes">
            <a:extLst>
              <a:ext uri="{FF2B5EF4-FFF2-40B4-BE49-F238E27FC236}">
                <a16:creationId xmlns:a16="http://schemas.microsoft.com/office/drawing/2014/main" id="{9A343DD9-3217-5EBB-EEEE-A821BFFC72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76" name="Google Shape;176;p13:notes">
            <a:extLst>
              <a:ext uri="{FF2B5EF4-FFF2-40B4-BE49-F238E27FC236}">
                <a16:creationId xmlns:a16="http://schemas.microsoft.com/office/drawing/2014/main" id="{18882AD1-3B46-621D-458D-403AE6CB9EE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732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97" name="Google Shape;19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536BF8DA-04C8-D39C-2CEA-AB6297C2F4D7}"/>
            </a:ext>
          </a:extLst>
        </p:cNvPr>
        <p:cNvGrpSpPr/>
        <p:nvPr/>
      </p:nvGrpSpPr>
      <p:grpSpPr>
        <a:xfrm>
          <a:off x="0" y="0"/>
          <a:ext cx="0" cy="0"/>
          <a:chOff x="0" y="0"/>
          <a:chExt cx="0" cy="0"/>
        </a:xfrm>
      </p:grpSpPr>
      <p:sp>
        <p:nvSpPr>
          <p:cNvPr id="211" name="Google Shape;211;p17:notes">
            <a:extLst>
              <a:ext uri="{FF2B5EF4-FFF2-40B4-BE49-F238E27FC236}">
                <a16:creationId xmlns:a16="http://schemas.microsoft.com/office/drawing/2014/main" id="{9F0D93BC-EB59-A39C-0949-5BEE2A0B85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7:notes">
            <a:extLst>
              <a:ext uri="{FF2B5EF4-FFF2-40B4-BE49-F238E27FC236}">
                <a16:creationId xmlns:a16="http://schemas.microsoft.com/office/drawing/2014/main" id="{DEB0E1B3-C7E3-DD4D-6E3F-7C534BAC80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58416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2"/>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1016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28" name="Google Shape;28;p3"/>
          <p:cNvGrpSpPr/>
          <p:nvPr/>
        </p:nvGrpSpPr>
        <p:grpSpPr>
          <a:xfrm>
            <a:off x="0" y="874168"/>
            <a:ext cx="11167347" cy="66801"/>
            <a:chOff x="0" y="884326"/>
            <a:chExt cx="8292584" cy="66801"/>
          </a:xfrm>
        </p:grpSpPr>
        <p:sp>
          <p:nvSpPr>
            <p:cNvPr id="29" name="Google Shape;29;p3"/>
            <p:cNvSpPr/>
            <p:nvPr/>
          </p:nvSpPr>
          <p:spPr>
            <a:xfrm>
              <a:off x="6997239" y="884326"/>
              <a:ext cx="1295345" cy="66801"/>
            </a:xfrm>
            <a:prstGeom prst="rect">
              <a:avLst/>
            </a:prstGeom>
            <a:solidFill>
              <a:srgbClr val="9BBB59"/>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0" name="Google Shape;30;p3"/>
            <p:cNvSpPr/>
            <p:nvPr/>
          </p:nvSpPr>
          <p:spPr>
            <a:xfrm>
              <a:off x="0" y="884326"/>
              <a:ext cx="6936079" cy="66801"/>
            </a:xfrm>
            <a:prstGeom prst="rect">
              <a:avLst/>
            </a:prstGeom>
            <a:solidFill>
              <a:srgbClr val="31859B"/>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1034603"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5"/>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107400" y="88051"/>
            <a:ext cx="11038120" cy="72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107400" y="1056640"/>
            <a:ext cx="5912400" cy="516679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2"/>
          </p:nvPr>
        </p:nvSpPr>
        <p:spPr>
          <a:xfrm>
            <a:off x="6172200" y="1056640"/>
            <a:ext cx="5912400" cy="516679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48" name="Google Shape;48;p6"/>
          <p:cNvGrpSpPr/>
          <p:nvPr/>
        </p:nvGrpSpPr>
        <p:grpSpPr>
          <a:xfrm>
            <a:off x="0" y="874168"/>
            <a:ext cx="11167347" cy="66801"/>
            <a:chOff x="0" y="884326"/>
            <a:chExt cx="8292584" cy="66801"/>
          </a:xfrm>
        </p:grpSpPr>
        <p:sp>
          <p:nvSpPr>
            <p:cNvPr id="49" name="Google Shape;49;p6"/>
            <p:cNvSpPr/>
            <p:nvPr/>
          </p:nvSpPr>
          <p:spPr>
            <a:xfrm>
              <a:off x="6997239" y="884326"/>
              <a:ext cx="1295345" cy="66801"/>
            </a:xfrm>
            <a:prstGeom prst="rect">
              <a:avLst/>
            </a:prstGeom>
            <a:solidFill>
              <a:srgbClr val="9BBB59"/>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0" name="Google Shape;50;p6"/>
            <p:cNvSpPr/>
            <p:nvPr/>
          </p:nvSpPr>
          <p:spPr>
            <a:xfrm>
              <a:off x="0" y="884326"/>
              <a:ext cx="6936079" cy="66801"/>
            </a:xfrm>
            <a:prstGeom prst="rect">
              <a:avLst/>
            </a:prstGeom>
            <a:solidFill>
              <a:srgbClr val="31859B"/>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1034603"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8"/>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a:spLocks noGrp="1"/>
          </p:cNvSpPr>
          <p:nvPr>
            <p:ph type="pic" idx="2"/>
          </p:nvPr>
        </p:nvSpPr>
        <p:spPr>
          <a:xfrm>
            <a:off x="5183188" y="987425"/>
            <a:ext cx="6172200" cy="4873625"/>
          </a:xfrm>
          <a:prstGeom prst="rect">
            <a:avLst/>
          </a:prstGeom>
          <a:noFill/>
          <a:ln>
            <a:noFill/>
          </a:ln>
        </p:spPr>
      </p:sp>
      <p:sp>
        <p:nvSpPr>
          <p:cNvPr id="70" name="Google Shape;70;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9"/>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107400" y="88051"/>
            <a:ext cx="11038120" cy="720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body" idx="1"/>
          </p:nvPr>
        </p:nvSpPr>
        <p:spPr>
          <a:xfrm rot="5400000">
            <a:off x="3486000" y="-2352440"/>
            <a:ext cx="5220000" cy="11977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0"/>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0"/>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0"/>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1"/>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07400" y="88051"/>
            <a:ext cx="11038120" cy="7200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107400" y="1026160"/>
            <a:ext cx="11977200" cy="52200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07400" y="6523670"/>
            <a:ext cx="2743200" cy="27432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523670"/>
            <a:ext cx="4114800" cy="27432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1">
            <a:alphaModFix/>
          </a:blip>
          <a:srcRect/>
          <a:stretch/>
        </p:blipFill>
        <p:spPr>
          <a:xfrm>
            <a:off x="11216640" y="20322"/>
            <a:ext cx="934721" cy="77938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2"/>
          <p:cNvSpPr txBox="1">
            <a:spLocks noGrp="1"/>
          </p:cNvSpPr>
          <p:nvPr>
            <p:ph type="ctrTitle"/>
          </p:nvPr>
        </p:nvSpPr>
        <p:spPr>
          <a:xfrm>
            <a:off x="1108361" y="1420788"/>
            <a:ext cx="9930176" cy="1286265"/>
          </a:xfrm>
          <a:prstGeom prst="rect">
            <a:avLst/>
          </a:prstGeom>
          <a:no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lvl="0">
              <a:lnSpc>
                <a:spcPct val="100000"/>
              </a:lnSpc>
              <a:buClr>
                <a:srgbClr val="000000"/>
              </a:buClr>
              <a:buSzPts val="2800"/>
            </a:pPr>
            <a:r>
              <a:rPr lang="en-US" sz="2800" dirty="0">
                <a:solidFill>
                  <a:srgbClr val="000000"/>
                </a:solidFill>
                <a:latin typeface="Times New Roman"/>
                <a:ea typeface="Times New Roman"/>
                <a:cs typeface="Times New Roman"/>
                <a:sym typeface="Times New Roman"/>
              </a:rPr>
              <a:t>Department:   </a:t>
            </a:r>
            <a:br>
              <a:rPr lang="en-US" sz="2800" b="1" dirty="0">
                <a:solidFill>
                  <a:srgbClr val="000000"/>
                </a:solidFill>
                <a:latin typeface="Times New Roman"/>
                <a:ea typeface="Times New Roman"/>
                <a:cs typeface="Times New Roman"/>
                <a:sym typeface="Times New Roman"/>
              </a:rPr>
            </a:br>
            <a:r>
              <a:rPr lang="en-US" sz="3200" b="1" dirty="0">
                <a:solidFill>
                  <a:srgbClr val="C00000"/>
                </a:solidFill>
                <a:latin typeface="Times New Roman"/>
                <a:ea typeface="Times New Roman"/>
                <a:cs typeface="Times New Roman"/>
                <a:sym typeface="Times New Roman"/>
              </a:rPr>
              <a:t>(Computer Vision FA1)</a:t>
            </a:r>
            <a:br>
              <a:rPr lang="en-US" sz="3200" b="1" dirty="0">
                <a:solidFill>
                  <a:srgbClr val="C00000"/>
                </a:solidFill>
                <a:latin typeface="Times New Roman"/>
                <a:ea typeface="Times New Roman"/>
                <a:cs typeface="Times New Roman"/>
                <a:sym typeface="Times New Roman"/>
              </a:rPr>
            </a:br>
            <a:r>
              <a:rPr lang="en-US" sz="2400" dirty="0"/>
              <a:t>Deep Transfer Learning for Skin Lesion Classification: A Study on HAM10000</a:t>
            </a:r>
            <a:r>
              <a:rPr lang="en-US" sz="3200" b="1" dirty="0">
                <a:solidFill>
                  <a:srgbClr val="C00000"/>
                </a:solidFill>
                <a:latin typeface="Times New Roman"/>
                <a:ea typeface="Times New Roman"/>
                <a:cs typeface="Times New Roman"/>
                <a:sym typeface="Times New Roman"/>
              </a:rPr>
              <a:t> </a:t>
            </a:r>
            <a:endParaRPr sz="3200" dirty="0">
              <a:solidFill>
                <a:srgbClr val="C00000"/>
              </a:solidFill>
              <a:latin typeface="Times New Roman"/>
              <a:ea typeface="Times New Roman"/>
              <a:cs typeface="Times New Roman"/>
              <a:sym typeface="Times New Roman"/>
            </a:endParaRPr>
          </a:p>
        </p:txBody>
      </p:sp>
      <p:sp>
        <p:nvSpPr>
          <p:cNvPr id="91" name="Google Shape;91;p12"/>
          <p:cNvSpPr txBox="1"/>
          <p:nvPr/>
        </p:nvSpPr>
        <p:spPr>
          <a:xfrm>
            <a:off x="2242376" y="89220"/>
            <a:ext cx="7707300" cy="808800"/>
          </a:xfrm>
          <a:prstGeom prst="rect">
            <a:avLst/>
          </a:prstGeom>
          <a:noFill/>
          <a:ln>
            <a:noFill/>
          </a:ln>
          <a:effectLst>
            <a:outerShdw blurRad="44450" dist="27940" dir="5400000" algn="ctr">
              <a:srgbClr val="000000">
                <a:alpha val="31372"/>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Times New Roman"/>
                <a:ea typeface="Times New Roman"/>
                <a:cs typeface="Times New Roman"/>
                <a:sym typeface="Times New Roman"/>
              </a:rPr>
              <a:t>Pimpri Chinchwad Education Trust’s</a:t>
            </a:r>
            <a:endParaRPr sz="24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66"/>
              </a:spcBef>
              <a:spcAft>
                <a:spcPts val="0"/>
              </a:spcAft>
              <a:buClr>
                <a:srgbClr val="000000"/>
              </a:buClr>
              <a:buSzPts val="2800"/>
              <a:buFont typeface="Arial"/>
              <a:buNone/>
            </a:pPr>
            <a:r>
              <a:rPr lang="en-US" sz="2800" b="1" i="0" u="none" strike="noStrike" cap="none">
                <a:solidFill>
                  <a:srgbClr val="1155CC"/>
                </a:solidFill>
                <a:latin typeface="Times New Roman"/>
                <a:ea typeface="Times New Roman"/>
                <a:cs typeface="Times New Roman"/>
                <a:sym typeface="Times New Roman"/>
              </a:rPr>
              <a:t>Pimpri Chinchwad College of Engineering, Pune</a:t>
            </a:r>
            <a:endParaRPr sz="1800" b="0" i="0" u="none" strike="noStrike" cap="none">
              <a:solidFill>
                <a:srgbClr val="1155CC"/>
              </a:solidFill>
              <a:latin typeface="Times New Roman"/>
              <a:ea typeface="Times New Roman"/>
              <a:cs typeface="Times New Roman"/>
              <a:sym typeface="Times New Roman"/>
            </a:endParaRPr>
          </a:p>
        </p:txBody>
      </p:sp>
      <p:grpSp>
        <p:nvGrpSpPr>
          <p:cNvPr id="92" name="Google Shape;92;p12"/>
          <p:cNvGrpSpPr/>
          <p:nvPr/>
        </p:nvGrpSpPr>
        <p:grpSpPr>
          <a:xfrm>
            <a:off x="3084533" y="1012709"/>
            <a:ext cx="6022934" cy="66801"/>
            <a:chOff x="0" y="884326"/>
            <a:chExt cx="8292584" cy="66801"/>
          </a:xfrm>
        </p:grpSpPr>
        <p:sp>
          <p:nvSpPr>
            <p:cNvPr id="93" name="Google Shape;93;p12"/>
            <p:cNvSpPr/>
            <p:nvPr/>
          </p:nvSpPr>
          <p:spPr>
            <a:xfrm>
              <a:off x="6997239" y="884326"/>
              <a:ext cx="1295345" cy="66801"/>
            </a:xfrm>
            <a:prstGeom prst="rect">
              <a:avLst/>
            </a:prstGeom>
            <a:solidFill>
              <a:srgbClr val="9BBB59"/>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4" name="Google Shape;94;p12"/>
            <p:cNvSpPr/>
            <p:nvPr/>
          </p:nvSpPr>
          <p:spPr>
            <a:xfrm>
              <a:off x="0" y="884326"/>
              <a:ext cx="6936079" cy="66801"/>
            </a:xfrm>
            <a:prstGeom prst="rect">
              <a:avLst/>
            </a:prstGeom>
            <a:solidFill>
              <a:srgbClr val="31859B"/>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1034603"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grpSp>
      <p:sp>
        <p:nvSpPr>
          <p:cNvPr id="95" name="Google Shape;95;p12"/>
          <p:cNvSpPr/>
          <p:nvPr/>
        </p:nvSpPr>
        <p:spPr>
          <a:xfrm>
            <a:off x="1414912" y="3048331"/>
            <a:ext cx="9533007" cy="3097909"/>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Presentation By:                                                                                        Guided By:</a:t>
            </a:r>
            <a:endParaRPr b="1" dirty="0"/>
          </a:p>
          <a:p>
            <a:pPr marL="0" marR="0" lvl="0" indent="0" algn="l" rtl="0">
              <a:lnSpc>
                <a:spcPct val="150000"/>
              </a:lnSpc>
              <a:spcBef>
                <a:spcPts val="0"/>
              </a:spcBef>
              <a:spcAft>
                <a:spcPts val="0"/>
              </a:spcAft>
              <a:buNone/>
            </a:pPr>
            <a:r>
              <a:rPr lang="en-US" sz="1800" dirty="0">
                <a:solidFill>
                  <a:schemeClr val="dk1"/>
                </a:solidFill>
                <a:latin typeface="Times New Roman"/>
                <a:ea typeface="Times New Roman"/>
                <a:cs typeface="Times New Roman"/>
                <a:sym typeface="Times New Roman"/>
              </a:rPr>
              <a:t>Rajeshwari Golande</a:t>
            </a:r>
            <a:r>
              <a:rPr lang="en-US" sz="1800" b="0" i="0" u="none" strike="noStrike" cap="none" dirty="0">
                <a:solidFill>
                  <a:schemeClr val="dk1"/>
                </a:solidFill>
                <a:latin typeface="Times New Roman"/>
                <a:ea typeface="Times New Roman"/>
                <a:cs typeface="Times New Roman"/>
                <a:sym typeface="Times New Roman"/>
              </a:rPr>
              <a:t>                                                                                   Mrs. S. A. Vaishnav</a:t>
            </a:r>
          </a:p>
          <a:p>
            <a:pPr marL="0" marR="0" lvl="0" indent="0" algn="l" rtl="0">
              <a:lnSpc>
                <a:spcPct val="150000"/>
              </a:lnSpc>
              <a:spcBef>
                <a:spcPts val="0"/>
              </a:spcBef>
              <a:spcAft>
                <a:spcPts val="0"/>
              </a:spcAft>
              <a:buNone/>
            </a:pPr>
            <a:r>
              <a:rPr lang="en-US" sz="1800" dirty="0">
                <a:solidFill>
                  <a:schemeClr val="dk1"/>
                </a:solidFill>
                <a:latin typeface="Times New Roman"/>
                <a:cs typeface="Times New Roman"/>
                <a:sym typeface="Times New Roman"/>
              </a:rPr>
              <a:t>(122B1D021)</a:t>
            </a:r>
            <a:endParaRPr lang="en-IN" dirty="0"/>
          </a:p>
          <a:p>
            <a:pPr marL="0" marR="0" lvl="0" indent="0" algn="l" rtl="0">
              <a:lnSpc>
                <a:spcPct val="150000"/>
              </a:lnSpc>
              <a:spcBef>
                <a:spcPts val="0"/>
              </a:spcBef>
              <a:spcAft>
                <a:spcPts val="0"/>
              </a:spcAft>
              <a:buNone/>
            </a:pPr>
            <a:endParaRPr lang="en-IN" sz="1800" b="0" i="0" u="none" strike="noStrike" cap="none" dirty="0">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96" name="Google Shape;96;p12"/>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US">
                <a:latin typeface="Times New Roman"/>
                <a:ea typeface="Times New Roman"/>
                <a:cs typeface="Times New Roman"/>
                <a:sym typeface="Times New Roman"/>
              </a:rPr>
              <a:t>Outline</a:t>
            </a:r>
            <a:endParaRPr/>
          </a:p>
        </p:txBody>
      </p:sp>
      <p:sp>
        <p:nvSpPr>
          <p:cNvPr id="102" name="Google Shape;102;p13"/>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marL="304800" lvl="0" indent="-457200" algn="l" rtl="0">
              <a:lnSpc>
                <a:spcPct val="130000"/>
              </a:lnSpc>
              <a:spcBef>
                <a:spcPts val="0"/>
              </a:spcBef>
              <a:spcAft>
                <a:spcPts val="0"/>
              </a:spcAft>
              <a:buClr>
                <a:schemeClr val="dk1"/>
              </a:buClr>
              <a:buSzPts val="2400"/>
              <a:buFont typeface="+mj-lt"/>
              <a:buAutoNum type="arabicPeriod"/>
            </a:pPr>
            <a:r>
              <a:rPr lang="en-US" sz="2400" dirty="0">
                <a:solidFill>
                  <a:schemeClr val="dk1"/>
                </a:solidFill>
                <a:latin typeface="Times New Roman"/>
                <a:ea typeface="Times New Roman"/>
                <a:cs typeface="Times New Roman"/>
                <a:sym typeface="Times New Roman"/>
              </a:rPr>
              <a:t>Introduction</a:t>
            </a:r>
            <a:endParaRPr sz="2400" dirty="0">
              <a:solidFill>
                <a:schemeClr val="dk1"/>
              </a:solidFill>
            </a:endParaRPr>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solidFill>
                  <a:schemeClr val="dk1"/>
                </a:solidFill>
                <a:latin typeface="Times New Roman"/>
                <a:ea typeface="Times New Roman"/>
                <a:cs typeface="Times New Roman"/>
                <a:sym typeface="Times New Roman"/>
              </a:rPr>
              <a:t>Problem Statement</a:t>
            </a:r>
            <a:endParaRPr sz="2400" dirty="0">
              <a:solidFill>
                <a:schemeClr val="dk1"/>
              </a:solidFill>
            </a:endParaRPr>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latin typeface="Times New Roman"/>
                <a:ea typeface="Times New Roman"/>
                <a:cs typeface="Times New Roman"/>
                <a:sym typeface="Times New Roman"/>
              </a:rPr>
              <a:t>Objectives</a:t>
            </a:r>
            <a:endParaRPr sz="2400" dirty="0"/>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solidFill>
                  <a:schemeClr val="dk1"/>
                </a:solidFill>
                <a:latin typeface="Times New Roman"/>
                <a:ea typeface="Times New Roman"/>
                <a:cs typeface="Times New Roman"/>
                <a:sym typeface="Times New Roman"/>
              </a:rPr>
              <a:t>Literature Review </a:t>
            </a:r>
            <a:endParaRPr sz="2400" dirty="0">
              <a:solidFill>
                <a:schemeClr val="dk1"/>
              </a:solidFill>
            </a:endParaRPr>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solidFill>
                  <a:schemeClr val="dk1"/>
                </a:solidFill>
                <a:latin typeface="Times New Roman"/>
                <a:ea typeface="Times New Roman"/>
                <a:cs typeface="Times New Roman"/>
                <a:sym typeface="Times New Roman"/>
              </a:rPr>
              <a:t>Methodology </a:t>
            </a:r>
            <a:endParaRPr sz="2400" dirty="0">
              <a:solidFill>
                <a:schemeClr val="dk1"/>
              </a:solidFill>
            </a:endParaRPr>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solidFill>
                  <a:schemeClr val="dk1"/>
                </a:solidFill>
                <a:latin typeface="Times New Roman"/>
                <a:ea typeface="Times New Roman"/>
                <a:cs typeface="Times New Roman"/>
                <a:sym typeface="Times New Roman"/>
              </a:rPr>
              <a:t>Experimentation Results</a:t>
            </a:r>
            <a:endParaRPr sz="2400" dirty="0">
              <a:solidFill>
                <a:schemeClr val="dk1"/>
              </a:solidFill>
            </a:endParaRPr>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solidFill>
                  <a:schemeClr val="dk1"/>
                </a:solidFill>
                <a:latin typeface="Times New Roman"/>
                <a:ea typeface="Times New Roman"/>
                <a:cs typeface="Times New Roman"/>
                <a:sym typeface="Times New Roman"/>
              </a:rPr>
              <a:t>Conclusion</a:t>
            </a:r>
            <a:endParaRPr sz="2400" dirty="0">
              <a:solidFill>
                <a:schemeClr val="dk1"/>
              </a:solidFill>
            </a:endParaRPr>
          </a:p>
          <a:p>
            <a:pPr marL="304800" lvl="0" indent="-457200" algn="l" rtl="0">
              <a:lnSpc>
                <a:spcPct val="130000"/>
              </a:lnSpc>
              <a:spcBef>
                <a:spcPts val="1000"/>
              </a:spcBef>
              <a:spcAft>
                <a:spcPts val="0"/>
              </a:spcAft>
              <a:buClr>
                <a:schemeClr val="dk1"/>
              </a:buClr>
              <a:buSzPts val="2400"/>
              <a:buFont typeface="+mj-lt"/>
              <a:buAutoNum type="arabicPeriod"/>
            </a:pPr>
            <a:r>
              <a:rPr lang="en-US" sz="2400" dirty="0">
                <a:latin typeface="Times New Roman"/>
                <a:ea typeface="Times New Roman"/>
                <a:cs typeface="Times New Roman"/>
                <a:sym typeface="Times New Roman"/>
              </a:rPr>
              <a:t>References</a:t>
            </a:r>
            <a:endParaRPr sz="2400" dirty="0"/>
          </a:p>
          <a:p>
            <a:pPr marL="0" lvl="0" indent="0" algn="l" rtl="0">
              <a:lnSpc>
                <a:spcPct val="130000"/>
              </a:lnSpc>
              <a:spcBef>
                <a:spcPts val="1000"/>
              </a:spcBef>
              <a:spcAft>
                <a:spcPts val="0"/>
              </a:spcAft>
              <a:buClr>
                <a:schemeClr val="dk1"/>
              </a:buClr>
              <a:buSzPts val="1200"/>
              <a:buNone/>
            </a:pPr>
            <a:endParaRPr dirty="0"/>
          </a:p>
        </p:txBody>
      </p:sp>
      <p:sp>
        <p:nvSpPr>
          <p:cNvPr id="103" name="Google Shape;103;p13"/>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2</a:t>
            </a:fld>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dirty="0">
                <a:latin typeface="Times New Roman"/>
                <a:ea typeface="Times New Roman"/>
                <a:cs typeface="Times New Roman"/>
                <a:sym typeface="Times New Roman"/>
              </a:rPr>
              <a:t>Introduction </a:t>
            </a:r>
            <a:endParaRPr sz="3200" dirty="0">
              <a:latin typeface="Times New Roman"/>
              <a:ea typeface="Times New Roman"/>
              <a:cs typeface="Times New Roman"/>
              <a:sym typeface="Times New Roman"/>
            </a:endParaRPr>
          </a:p>
        </p:txBody>
      </p:sp>
      <p:sp>
        <p:nvSpPr>
          <p:cNvPr id="109" name="Google Shape;109;p14"/>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lvl="0" algn="just">
              <a:lnSpc>
                <a:spcPct val="100000"/>
              </a:lnSpc>
            </a:pPr>
            <a:r>
              <a:rPr lang="en-US" sz="2400" dirty="0"/>
              <a:t>Skin cancer remains a growing global health challenge, accounting for more than 1.5 million new cases annually [1]. Melanoma is the deadliest due to its aggressiveness if undetected [2].</a:t>
            </a:r>
          </a:p>
          <a:p>
            <a:pPr lvl="0" algn="just">
              <a:lnSpc>
                <a:spcPct val="100000"/>
              </a:lnSpc>
            </a:pPr>
            <a:r>
              <a:rPr lang="en-US" sz="2400" dirty="0"/>
              <a:t>Dermatoscopic examination has improved diagnosis but requires specialist expertise [3]. AI-based systems, especially CNNs, are increasingly applied in dermatology [5], but </a:t>
            </a:r>
            <a:r>
              <a:rPr lang="en-US" sz="2400" b="1" dirty="0"/>
              <a:t>plain CNNs </a:t>
            </a:r>
            <a:r>
              <a:rPr lang="en-US" sz="2400" dirty="0"/>
              <a:t>trained from scratch are limited on small, imbalanced datasets. </a:t>
            </a:r>
          </a:p>
          <a:p>
            <a:pPr lvl="0" algn="just">
              <a:lnSpc>
                <a:spcPct val="100000"/>
              </a:lnSpc>
            </a:pPr>
            <a:r>
              <a:rPr lang="en-IN" sz="2400" dirty="0"/>
              <a:t>Transfer learning with </a:t>
            </a:r>
            <a:r>
              <a:rPr lang="en-IN" sz="2400" b="1" dirty="0"/>
              <a:t>pretrained ResNet50 </a:t>
            </a:r>
            <a:r>
              <a:rPr lang="en-IN" sz="2400" dirty="0"/>
              <a:t>[6] enables better performance. HAM10000 [4] is a benchmark dataset with 10,015 dermoscopic images across seven diagnostic categories. Recent work reports &gt;85% accuracy with transfer learning [7,8], but few studies compare plain CNNs vs ResNet50 with explainability.</a:t>
            </a:r>
          </a:p>
          <a:p>
            <a:pPr lvl="0" algn="just">
              <a:lnSpc>
                <a:spcPct val="100000"/>
              </a:lnSpc>
            </a:pPr>
            <a:r>
              <a:rPr lang="en-IN" sz="2400" dirty="0"/>
              <a:t>Grad-CAM [9] enhances interpretability.</a:t>
            </a:r>
            <a:endParaRPr sz="2400" dirty="0">
              <a:solidFill>
                <a:schemeClr val="dk1"/>
              </a:solidFill>
              <a:latin typeface="Times New Roman"/>
              <a:ea typeface="Times New Roman"/>
              <a:cs typeface="Times New Roman"/>
              <a:sym typeface="Times New Roman"/>
            </a:endParaRPr>
          </a:p>
        </p:txBody>
      </p:sp>
      <p:sp>
        <p:nvSpPr>
          <p:cNvPr id="110" name="Google Shape;110;p14"/>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5"/>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Problem Statement &amp; Objectives</a:t>
            </a:r>
            <a:endParaRPr sz="3200">
              <a:latin typeface="Times New Roman"/>
              <a:ea typeface="Times New Roman"/>
              <a:cs typeface="Times New Roman"/>
              <a:sym typeface="Times New Roman"/>
            </a:endParaRPr>
          </a:p>
        </p:txBody>
      </p:sp>
      <p:sp>
        <p:nvSpPr>
          <p:cNvPr id="116" name="Google Shape;116;p15"/>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fontScale="92500" lnSpcReduction="10000"/>
          </a:bodyPr>
          <a:lstStyle/>
          <a:p>
            <a:pPr marL="114300" lvl="0" indent="0" algn="l" rtl="0">
              <a:lnSpc>
                <a:spcPct val="90000"/>
              </a:lnSpc>
              <a:spcBef>
                <a:spcPts val="1000"/>
              </a:spcBef>
              <a:spcAft>
                <a:spcPts val="0"/>
              </a:spcAft>
              <a:buSzPts val="1800"/>
              <a:buNone/>
            </a:pPr>
            <a:r>
              <a:rPr lang="en-US" b="1" i="0" dirty="0">
                <a:solidFill>
                  <a:srgbClr val="202124"/>
                </a:solidFill>
                <a:latin typeface="Times New Roman" panose="02020603050405020304" pitchFamily="18" charset="0"/>
                <a:ea typeface="Roboto"/>
                <a:cs typeface="Times New Roman" panose="02020603050405020304" pitchFamily="18" charset="0"/>
                <a:sym typeface="Roboto"/>
              </a:rPr>
              <a:t>Problem Statement</a:t>
            </a:r>
            <a:endParaRPr dirty="0">
              <a:latin typeface="Times New Roman" panose="02020603050405020304" pitchFamily="18" charset="0"/>
              <a:cs typeface="Times New Roman" panose="02020603050405020304" pitchFamily="18" charset="0"/>
            </a:endParaRPr>
          </a:p>
          <a:p>
            <a:pPr marL="114300" lvl="0" indent="0">
              <a:lnSpc>
                <a:spcPct val="150000"/>
              </a:lnSpc>
              <a:buNone/>
            </a:pPr>
            <a:r>
              <a:rPr lang="en-US" sz="2400" i="0" dirty="0">
                <a:solidFill>
                  <a:srgbClr val="202124"/>
                </a:solidFill>
                <a:latin typeface="Times New Roman" panose="02020603050405020304" pitchFamily="18" charset="0"/>
                <a:ea typeface="Times New Roman"/>
                <a:cs typeface="Times New Roman" panose="02020603050405020304" pitchFamily="18" charset="0"/>
                <a:sym typeface="Times New Roman"/>
              </a:rPr>
              <a:t>To implement a </a:t>
            </a:r>
            <a:r>
              <a:rPr lang="en-US" sz="2400" dirty="0">
                <a:latin typeface="Times New Roman" panose="02020603050405020304" pitchFamily="18" charset="0"/>
                <a:cs typeface="Times New Roman" panose="02020603050405020304" pitchFamily="18" charset="0"/>
              </a:rPr>
              <a:t>more robust and clinically reliable models that not only improve accuracy but also provide interpretability as in our experiments, a plain CNN baseline achieved only </a:t>
            </a:r>
            <a:r>
              <a:rPr lang="en-US" sz="2400" b="1" dirty="0">
                <a:latin typeface="Times New Roman" panose="02020603050405020304" pitchFamily="18" charset="0"/>
                <a:cs typeface="Times New Roman" panose="02020603050405020304" pitchFamily="18" charset="0"/>
              </a:rPr>
              <a:t>62.6% test accuracy</a:t>
            </a:r>
            <a:r>
              <a:rPr lang="en-US" sz="2400" dirty="0">
                <a:latin typeface="Times New Roman" panose="02020603050405020304" pitchFamily="18" charset="0"/>
                <a:cs typeface="Times New Roman" panose="02020603050405020304" pitchFamily="18" charset="0"/>
              </a:rPr>
              <a:t> and a </a:t>
            </a:r>
            <a:r>
              <a:rPr lang="en-US" sz="2400" b="1" dirty="0">
                <a:latin typeface="Times New Roman" panose="02020603050405020304" pitchFamily="18" charset="0"/>
                <a:cs typeface="Times New Roman" panose="02020603050405020304" pitchFamily="18" charset="0"/>
              </a:rPr>
              <a:t>macro-F1 score of 0.43</a:t>
            </a:r>
            <a:r>
              <a:rPr lang="en-US" sz="2400" dirty="0">
                <a:latin typeface="Times New Roman" panose="02020603050405020304" pitchFamily="18" charset="0"/>
                <a:cs typeface="Times New Roman" panose="02020603050405020304" pitchFamily="18" charset="0"/>
              </a:rPr>
              <a:t>, with frequent misclassification of melanoma and basal cell carcinoma into benign categories.</a:t>
            </a:r>
          </a:p>
          <a:p>
            <a:pPr marL="114300" lvl="0" indent="0">
              <a:lnSpc>
                <a:spcPct val="150000"/>
              </a:lnSpc>
              <a:buNone/>
            </a:pPr>
            <a:r>
              <a:rPr lang="en-US" b="1" dirty="0">
                <a:solidFill>
                  <a:srgbClr val="202124"/>
                </a:solidFill>
                <a:latin typeface="Times New Roman" panose="02020603050405020304" pitchFamily="18" charset="0"/>
                <a:ea typeface="Roboto"/>
                <a:cs typeface="Times New Roman" panose="02020603050405020304" pitchFamily="18" charset="0"/>
                <a:sym typeface="Roboto"/>
              </a:rPr>
              <a:t>Objectives</a:t>
            </a:r>
            <a:endParaRPr dirty="0">
              <a:latin typeface="Times New Roman" panose="02020603050405020304" pitchFamily="18" charset="0"/>
              <a:cs typeface="Times New Roman" panose="02020603050405020304" pitchFamily="18" charset="0"/>
            </a:endParaRPr>
          </a:p>
          <a:p>
            <a:pPr lvl="0" indent="-457200">
              <a:buFont typeface="+mj-lt"/>
              <a:buAutoNum type="arabicPeriod"/>
            </a:pPr>
            <a:r>
              <a:rPr lang="en-US" sz="2400" dirty="0">
                <a:latin typeface="Times New Roman" panose="02020603050405020304" pitchFamily="18" charset="0"/>
                <a:cs typeface="Times New Roman" panose="02020603050405020304" pitchFamily="18" charset="0"/>
              </a:rPr>
              <a:t>To </a:t>
            </a:r>
            <a:r>
              <a:rPr lang="en-US" sz="2400" b="1" dirty="0">
                <a:latin typeface="Times New Roman" panose="02020603050405020304" pitchFamily="18" charset="0"/>
                <a:cs typeface="Times New Roman" panose="02020603050405020304" pitchFamily="18" charset="0"/>
              </a:rPr>
              <a:t>benchmark</a:t>
            </a:r>
            <a:r>
              <a:rPr lang="en-US" sz="2400" dirty="0">
                <a:latin typeface="Times New Roman" panose="02020603050405020304" pitchFamily="18" charset="0"/>
                <a:cs typeface="Times New Roman" panose="02020603050405020304" pitchFamily="18" charset="0"/>
              </a:rPr>
              <a:t> a baseline plain CNN against a transfer learning model (ResNet50) on the HAM10000 dataset.</a:t>
            </a:r>
          </a:p>
          <a:p>
            <a:pPr lvl="0" indent="-457200">
              <a:buFont typeface="+mj-lt"/>
              <a:buAutoNum type="arabicPeriod"/>
            </a:pPr>
            <a:r>
              <a:rPr lang="en-US" sz="2400" dirty="0">
                <a:latin typeface="Times New Roman" panose="02020603050405020304" pitchFamily="18" charset="0"/>
                <a:cs typeface="Times New Roman" panose="02020603050405020304" pitchFamily="18" charset="0"/>
              </a:rPr>
              <a:t>To </a:t>
            </a:r>
            <a:r>
              <a:rPr lang="en-US" sz="2400" b="1" dirty="0">
                <a:latin typeface="Times New Roman" panose="02020603050405020304" pitchFamily="18" charset="0"/>
                <a:cs typeface="Times New Roman" panose="02020603050405020304" pitchFamily="18" charset="0"/>
              </a:rPr>
              <a:t>evaluate and compare</a:t>
            </a:r>
            <a:r>
              <a:rPr lang="en-US" sz="2400" dirty="0">
                <a:latin typeface="Times New Roman" panose="02020603050405020304" pitchFamily="18" charset="0"/>
                <a:cs typeface="Times New Roman" panose="02020603050405020304" pitchFamily="18" charset="0"/>
              </a:rPr>
              <a:t> both models using comprehensive metrics including accuracy, macro-F1, confusion matrices, and per-class performance.</a:t>
            </a:r>
          </a:p>
          <a:p>
            <a:pPr lvl="0" indent="-457200">
              <a:buFont typeface="+mj-lt"/>
              <a:buAutoNum type="arabicPeriod"/>
            </a:pPr>
            <a:r>
              <a:rPr lang="en-US" sz="2400" dirty="0">
                <a:latin typeface="Times New Roman" panose="02020603050405020304" pitchFamily="18" charset="0"/>
                <a:cs typeface="Times New Roman" panose="02020603050405020304" pitchFamily="18" charset="0"/>
              </a:rPr>
              <a:t>To </a:t>
            </a:r>
            <a:r>
              <a:rPr lang="en-US" sz="2400" b="1" dirty="0">
                <a:latin typeface="Times New Roman" panose="02020603050405020304" pitchFamily="18" charset="0"/>
                <a:cs typeface="Times New Roman" panose="02020603050405020304" pitchFamily="18" charset="0"/>
              </a:rPr>
              <a:t>incorporate Grad-CAM</a:t>
            </a:r>
            <a:r>
              <a:rPr lang="en-US" sz="2400" dirty="0">
                <a:latin typeface="Times New Roman" panose="02020603050405020304" pitchFamily="18" charset="0"/>
                <a:cs typeface="Times New Roman" panose="02020603050405020304" pitchFamily="18" charset="0"/>
              </a:rPr>
              <a:t> visual explanations for ResNet50 predictions for clinical trust and interpretability</a:t>
            </a:r>
            <a:endParaRPr b="1" dirty="0">
              <a:latin typeface="Times New Roman" panose="02020603050405020304" pitchFamily="18" charset="0"/>
              <a:cs typeface="Times New Roman" panose="02020603050405020304" pitchFamily="18" charset="0"/>
            </a:endParaRPr>
          </a:p>
        </p:txBody>
      </p:sp>
      <p:sp>
        <p:nvSpPr>
          <p:cNvPr id="117" name="Google Shape;117;p15"/>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405CF8AE-0D61-522D-48D7-2435CEB93E6F}"/>
            </a:ext>
          </a:extLst>
        </p:cNvPr>
        <p:cNvGrpSpPr/>
        <p:nvPr/>
      </p:nvGrpSpPr>
      <p:grpSpPr>
        <a:xfrm>
          <a:off x="0" y="0"/>
          <a:ext cx="0" cy="0"/>
          <a:chOff x="0" y="0"/>
          <a:chExt cx="0" cy="0"/>
        </a:xfrm>
      </p:grpSpPr>
      <p:sp>
        <p:nvSpPr>
          <p:cNvPr id="115" name="Google Shape;115;p15">
            <a:extLst>
              <a:ext uri="{FF2B5EF4-FFF2-40B4-BE49-F238E27FC236}">
                <a16:creationId xmlns:a16="http://schemas.microsoft.com/office/drawing/2014/main" id="{9E25872A-014C-D2DD-6A40-DD7498BEE874}"/>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lvl="0"/>
            <a:r>
              <a:rPr lang="en-IN" sz="3200" dirty="0"/>
              <a:t>Motivation</a:t>
            </a:r>
            <a:endParaRPr sz="3200" dirty="0">
              <a:latin typeface="Times New Roman"/>
              <a:ea typeface="Times New Roman"/>
              <a:cs typeface="Times New Roman"/>
              <a:sym typeface="Times New Roman"/>
            </a:endParaRPr>
          </a:p>
        </p:txBody>
      </p:sp>
      <p:sp>
        <p:nvSpPr>
          <p:cNvPr id="116" name="Google Shape;116;p15">
            <a:extLst>
              <a:ext uri="{FF2B5EF4-FFF2-40B4-BE49-F238E27FC236}">
                <a16:creationId xmlns:a16="http://schemas.microsoft.com/office/drawing/2014/main" id="{85103E4C-0E93-51D9-BA91-E39E52B32BC2}"/>
              </a:ext>
            </a:extLst>
          </p:cNvPr>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endParaRPr lang="en-US" dirty="0"/>
          </a:p>
          <a:p>
            <a:r>
              <a:rPr lang="en-US" b="1" dirty="0"/>
              <a:t>Medical relevance</a:t>
            </a:r>
            <a:r>
              <a:rPr lang="en-US" dirty="0"/>
              <a:t>: Early detection can save lives.</a:t>
            </a:r>
          </a:p>
          <a:p>
            <a:r>
              <a:rPr lang="en-US" b="1" dirty="0"/>
              <a:t>Technological potential</a:t>
            </a:r>
            <a:r>
              <a:rPr lang="en-US" dirty="0"/>
              <a:t>: Advances in CV can improve diagnostic accuracy and reach underserved areas.</a:t>
            </a:r>
          </a:p>
          <a:p>
            <a:r>
              <a:rPr lang="en-US" b="1" dirty="0"/>
              <a:t>Research contribution</a:t>
            </a:r>
            <a:r>
              <a:rPr lang="en-US" dirty="0"/>
              <a:t>: Performance benchmarking of architectures on a real medical dataset.</a:t>
            </a:r>
          </a:p>
          <a:p>
            <a:pPr marL="114300" lvl="0" indent="0" algn="l" rtl="0">
              <a:lnSpc>
                <a:spcPct val="90000"/>
              </a:lnSpc>
              <a:spcBef>
                <a:spcPts val="1000"/>
              </a:spcBef>
              <a:spcAft>
                <a:spcPts val="0"/>
              </a:spcAft>
              <a:buSzPts val="1800"/>
              <a:buNone/>
            </a:pPr>
            <a:endParaRPr b="1" dirty="0">
              <a:latin typeface="Times New Roman" panose="02020603050405020304" pitchFamily="18" charset="0"/>
              <a:cs typeface="Times New Roman" panose="02020603050405020304" pitchFamily="18" charset="0"/>
            </a:endParaRPr>
          </a:p>
        </p:txBody>
      </p:sp>
      <p:sp>
        <p:nvSpPr>
          <p:cNvPr id="117" name="Google Shape;117;p15">
            <a:extLst>
              <a:ext uri="{FF2B5EF4-FFF2-40B4-BE49-F238E27FC236}">
                <a16:creationId xmlns:a16="http://schemas.microsoft.com/office/drawing/2014/main" id="{18CEC877-937B-CFB7-3618-C25A1D21B990}"/>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extLst>
      <p:ext uri="{BB962C8B-B14F-4D97-AF65-F5344CB8AC3E}">
        <p14:creationId xmlns:p14="http://schemas.microsoft.com/office/powerpoint/2010/main" val="2867700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Literature Review  </a:t>
            </a:r>
            <a:endParaRPr sz="2400"/>
          </a:p>
        </p:txBody>
      </p:sp>
      <p:sp>
        <p:nvSpPr>
          <p:cNvPr id="123" name="Google Shape;123;p16"/>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graphicFrame>
        <p:nvGraphicFramePr>
          <p:cNvPr id="124" name="Google Shape;124;p16"/>
          <p:cNvGraphicFramePr/>
          <p:nvPr>
            <p:extLst>
              <p:ext uri="{D42A27DB-BD31-4B8C-83A1-F6EECF244321}">
                <p14:modId xmlns:p14="http://schemas.microsoft.com/office/powerpoint/2010/main" val="2954587317"/>
              </p:ext>
            </p:extLst>
          </p:nvPr>
        </p:nvGraphicFramePr>
        <p:xfrm>
          <a:off x="181232" y="1062681"/>
          <a:ext cx="11760850" cy="5052045"/>
        </p:xfrm>
        <a:graphic>
          <a:graphicData uri="http://schemas.openxmlformats.org/drawingml/2006/table">
            <a:tbl>
              <a:tblPr firstRow="1" bandRow="1">
                <a:noFill/>
                <a:tableStyleId>{00D05278-5E4C-4E56-BAF3-980960587669}</a:tableStyleId>
              </a:tblPr>
              <a:tblGrid>
                <a:gridCol w="754400">
                  <a:extLst>
                    <a:ext uri="{9D8B030D-6E8A-4147-A177-3AD203B41FA5}">
                      <a16:colId xmlns:a16="http://schemas.microsoft.com/office/drawing/2014/main" val="20000"/>
                    </a:ext>
                  </a:extLst>
                </a:gridCol>
                <a:gridCol w="2146175">
                  <a:extLst>
                    <a:ext uri="{9D8B030D-6E8A-4147-A177-3AD203B41FA5}">
                      <a16:colId xmlns:a16="http://schemas.microsoft.com/office/drawing/2014/main" val="20001"/>
                    </a:ext>
                  </a:extLst>
                </a:gridCol>
                <a:gridCol w="2405375">
                  <a:extLst>
                    <a:ext uri="{9D8B030D-6E8A-4147-A177-3AD203B41FA5}">
                      <a16:colId xmlns:a16="http://schemas.microsoft.com/office/drawing/2014/main" val="20002"/>
                    </a:ext>
                  </a:extLst>
                </a:gridCol>
                <a:gridCol w="1728400">
                  <a:extLst>
                    <a:ext uri="{9D8B030D-6E8A-4147-A177-3AD203B41FA5}">
                      <a16:colId xmlns:a16="http://schemas.microsoft.com/office/drawing/2014/main" val="20003"/>
                    </a:ext>
                  </a:extLst>
                </a:gridCol>
                <a:gridCol w="1802125">
                  <a:extLst>
                    <a:ext uri="{9D8B030D-6E8A-4147-A177-3AD203B41FA5}">
                      <a16:colId xmlns:a16="http://schemas.microsoft.com/office/drawing/2014/main" val="20004"/>
                    </a:ext>
                  </a:extLst>
                </a:gridCol>
                <a:gridCol w="1254850">
                  <a:extLst>
                    <a:ext uri="{9D8B030D-6E8A-4147-A177-3AD203B41FA5}">
                      <a16:colId xmlns:a16="http://schemas.microsoft.com/office/drawing/2014/main" val="20005"/>
                    </a:ext>
                  </a:extLst>
                </a:gridCol>
                <a:gridCol w="1669525">
                  <a:extLst>
                    <a:ext uri="{9D8B030D-6E8A-4147-A177-3AD203B41FA5}">
                      <a16:colId xmlns:a16="http://schemas.microsoft.com/office/drawing/2014/main" val="20006"/>
                    </a:ext>
                  </a:extLst>
                </a:gridCol>
              </a:tblGrid>
              <a:tr h="568325">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Sr. No</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Title of the paper</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Year &amp; Publication Details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Methodology</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Findings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Limitations/Challenges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Research Gap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989150">
                <a:tc>
                  <a:txBody>
                    <a:bodyPr/>
                    <a:lstStyle/>
                    <a:p>
                      <a:pPr marL="0" marR="0" lvl="0" indent="0" algn="l" rtl="0">
                        <a:lnSpc>
                          <a:spcPct val="100000"/>
                        </a:lnSpc>
                        <a:spcBef>
                          <a:spcPts val="0"/>
                        </a:spcBef>
                        <a:spcAft>
                          <a:spcPts val="0"/>
                        </a:spcAft>
                        <a:buNone/>
                      </a:pPr>
                      <a:r>
                        <a:rPr lang="en-US" sz="1500" u="none" strike="noStrike" cap="none">
                          <a:latin typeface="Times New Roman"/>
                          <a:ea typeface="Times New Roman"/>
                          <a:cs typeface="Times New Roman"/>
                          <a:sym typeface="Times New Roman"/>
                        </a:rPr>
                        <a:t>1.</a:t>
                      </a:r>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Skin lesion classification of dermoscopic images using deep learning and transfer learning</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500"/>
                        <a:buFont typeface="Arial"/>
                        <a:buNone/>
                      </a:pPr>
                      <a:r>
                        <a:rPr lang="en-IN" sz="1600" dirty="0"/>
                        <a:t>2022, </a:t>
                      </a:r>
                      <a:r>
                        <a:rPr lang="en-IN" sz="1600" i="1" dirty="0"/>
                        <a:t>Scientific Reports (Nature)</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Applied transfer learning CNN models on </a:t>
                      </a:r>
                      <a:r>
                        <a:rPr lang="en-US" sz="1600" b="1" dirty="0"/>
                        <a:t>HAM10000</a:t>
                      </a:r>
                      <a:r>
                        <a:rPr lang="en-US" sz="1600" dirty="0"/>
                        <a:t> with preprocessing and augmentation</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Transfer learning achieves ~84% accuracy; confirms effectiveness of pretrained models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Severe </a:t>
                      </a:r>
                      <a:r>
                        <a:rPr lang="en-US" sz="1600" b="1" dirty="0"/>
                        <a:t>class imbalance</a:t>
                      </a:r>
                      <a:r>
                        <a:rPr lang="en-US" sz="1600" dirty="0"/>
                        <a:t> reduces performance on minority classes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Shetty et al.</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441550">
                <a:tc>
                  <a:txBody>
                    <a:bodyPr/>
                    <a:lstStyle/>
                    <a:p>
                      <a:pPr marL="0" marR="0" lvl="0" indent="0" algn="l" rtl="0">
                        <a:lnSpc>
                          <a:spcPct val="100000"/>
                        </a:lnSpc>
                        <a:spcBef>
                          <a:spcPts val="0"/>
                        </a:spcBef>
                        <a:spcAft>
                          <a:spcPts val="0"/>
                        </a:spcAft>
                        <a:buNone/>
                      </a:pPr>
                      <a:r>
                        <a:rPr lang="en-US" sz="1500" u="none" strike="noStrike" cap="none">
                          <a:solidFill>
                            <a:schemeClr val="dk1"/>
                          </a:solidFill>
                          <a:latin typeface="Times New Roman"/>
                          <a:ea typeface="Times New Roman"/>
                          <a:cs typeface="Times New Roman"/>
                          <a:sym typeface="Times New Roman"/>
                        </a:rPr>
                        <a:t>2.</a:t>
                      </a:r>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Dermatologist-like explainable AI enhances trust and accuracy in skin lesion classification</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2024, </a:t>
                      </a:r>
                      <a:r>
                        <a:rPr lang="en-IN" sz="1600" i="1" dirty="0"/>
                        <a:t>Nature Communications</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Developed explainable AI pipeline with visualization and tested with dermatologists</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b="1" dirty="0"/>
                        <a:t>Explainability improves accuracy and trust</a:t>
                      </a:r>
                      <a:r>
                        <a:rPr lang="en-US" sz="1600" dirty="0"/>
                        <a:t>, crucial for clinical adoption</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Not evaluated on HAM10000, focused on ISIC</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Chanda et al.</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5684619C-CC77-2424-7258-CBEFC919D9A7}"/>
            </a:ext>
          </a:extLst>
        </p:cNvPr>
        <p:cNvGrpSpPr/>
        <p:nvPr/>
      </p:nvGrpSpPr>
      <p:grpSpPr>
        <a:xfrm>
          <a:off x="0" y="0"/>
          <a:ext cx="0" cy="0"/>
          <a:chOff x="0" y="0"/>
          <a:chExt cx="0" cy="0"/>
        </a:xfrm>
      </p:grpSpPr>
      <p:sp>
        <p:nvSpPr>
          <p:cNvPr id="122" name="Google Shape;122;p16">
            <a:extLst>
              <a:ext uri="{FF2B5EF4-FFF2-40B4-BE49-F238E27FC236}">
                <a16:creationId xmlns:a16="http://schemas.microsoft.com/office/drawing/2014/main" id="{81CEBB2F-95DF-CE0F-E10F-53EB53578F69}"/>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Literature Review  </a:t>
            </a:r>
            <a:endParaRPr sz="2400"/>
          </a:p>
        </p:txBody>
      </p:sp>
      <p:sp>
        <p:nvSpPr>
          <p:cNvPr id="123" name="Google Shape;123;p16">
            <a:extLst>
              <a:ext uri="{FF2B5EF4-FFF2-40B4-BE49-F238E27FC236}">
                <a16:creationId xmlns:a16="http://schemas.microsoft.com/office/drawing/2014/main" id="{E7655709-E7CF-9CA0-5453-EBF20AA62551}"/>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graphicFrame>
        <p:nvGraphicFramePr>
          <p:cNvPr id="124" name="Google Shape;124;p16">
            <a:extLst>
              <a:ext uri="{FF2B5EF4-FFF2-40B4-BE49-F238E27FC236}">
                <a16:creationId xmlns:a16="http://schemas.microsoft.com/office/drawing/2014/main" id="{451BD91F-2F39-7B3D-9CD9-E387A8A09DC0}"/>
              </a:ext>
            </a:extLst>
          </p:cNvPr>
          <p:cNvGraphicFramePr/>
          <p:nvPr>
            <p:extLst>
              <p:ext uri="{D42A27DB-BD31-4B8C-83A1-F6EECF244321}">
                <p14:modId xmlns:p14="http://schemas.microsoft.com/office/powerpoint/2010/main" val="98187066"/>
              </p:ext>
            </p:extLst>
          </p:nvPr>
        </p:nvGraphicFramePr>
        <p:xfrm>
          <a:off x="181232" y="1062681"/>
          <a:ext cx="11760850" cy="4999025"/>
        </p:xfrm>
        <a:graphic>
          <a:graphicData uri="http://schemas.openxmlformats.org/drawingml/2006/table">
            <a:tbl>
              <a:tblPr firstRow="1" bandRow="1">
                <a:noFill/>
                <a:tableStyleId>{00D05278-5E4C-4E56-BAF3-980960587669}</a:tableStyleId>
              </a:tblPr>
              <a:tblGrid>
                <a:gridCol w="754400">
                  <a:extLst>
                    <a:ext uri="{9D8B030D-6E8A-4147-A177-3AD203B41FA5}">
                      <a16:colId xmlns:a16="http://schemas.microsoft.com/office/drawing/2014/main" val="20000"/>
                    </a:ext>
                  </a:extLst>
                </a:gridCol>
                <a:gridCol w="2146175">
                  <a:extLst>
                    <a:ext uri="{9D8B030D-6E8A-4147-A177-3AD203B41FA5}">
                      <a16:colId xmlns:a16="http://schemas.microsoft.com/office/drawing/2014/main" val="20001"/>
                    </a:ext>
                  </a:extLst>
                </a:gridCol>
                <a:gridCol w="2405375">
                  <a:extLst>
                    <a:ext uri="{9D8B030D-6E8A-4147-A177-3AD203B41FA5}">
                      <a16:colId xmlns:a16="http://schemas.microsoft.com/office/drawing/2014/main" val="20002"/>
                    </a:ext>
                  </a:extLst>
                </a:gridCol>
                <a:gridCol w="1728400">
                  <a:extLst>
                    <a:ext uri="{9D8B030D-6E8A-4147-A177-3AD203B41FA5}">
                      <a16:colId xmlns:a16="http://schemas.microsoft.com/office/drawing/2014/main" val="20003"/>
                    </a:ext>
                  </a:extLst>
                </a:gridCol>
                <a:gridCol w="1802125">
                  <a:extLst>
                    <a:ext uri="{9D8B030D-6E8A-4147-A177-3AD203B41FA5}">
                      <a16:colId xmlns:a16="http://schemas.microsoft.com/office/drawing/2014/main" val="20004"/>
                    </a:ext>
                  </a:extLst>
                </a:gridCol>
                <a:gridCol w="1254850">
                  <a:extLst>
                    <a:ext uri="{9D8B030D-6E8A-4147-A177-3AD203B41FA5}">
                      <a16:colId xmlns:a16="http://schemas.microsoft.com/office/drawing/2014/main" val="20005"/>
                    </a:ext>
                  </a:extLst>
                </a:gridCol>
                <a:gridCol w="1669525">
                  <a:extLst>
                    <a:ext uri="{9D8B030D-6E8A-4147-A177-3AD203B41FA5}">
                      <a16:colId xmlns:a16="http://schemas.microsoft.com/office/drawing/2014/main" val="20006"/>
                    </a:ext>
                  </a:extLst>
                </a:gridCol>
              </a:tblGrid>
              <a:tr h="568325">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Sr. No</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Title of the paper</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Year &amp; Publication Details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Methodology</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Findings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Limitations/Challenges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Research Gap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989150">
                <a:tc>
                  <a:txBody>
                    <a:bodyPr/>
                    <a:lstStyle/>
                    <a:p>
                      <a:pPr marL="0" marR="0" lvl="0" indent="0" algn="l" rtl="0">
                        <a:lnSpc>
                          <a:spcPct val="100000"/>
                        </a:lnSpc>
                        <a:spcBef>
                          <a:spcPts val="0"/>
                        </a:spcBef>
                        <a:spcAft>
                          <a:spcPts val="0"/>
                        </a:spcAft>
                        <a:buNone/>
                      </a:pPr>
                      <a:r>
                        <a:rPr lang="en-US" sz="1500" u="none" strike="noStrike" cap="none" dirty="0">
                          <a:latin typeface="Times New Roman"/>
                          <a:cs typeface="Times New Roman"/>
                          <a:sym typeface="Times New Roman"/>
                        </a:rPr>
                        <a:t>3.</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Federated Learning for Decentralized AI in Dermatology</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500"/>
                        <a:buFont typeface="Arial"/>
                        <a:buNone/>
                      </a:pPr>
                      <a:r>
                        <a:rPr lang="en-IN" sz="1600" dirty="0"/>
                        <a:t>2024, </a:t>
                      </a:r>
                      <a:r>
                        <a:rPr lang="en-IN" sz="1600" i="1" dirty="0"/>
                        <a:t>JAMA Dermatology</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Compared federated vs centralized training on </a:t>
                      </a:r>
                      <a:r>
                        <a:rPr lang="en-US" sz="1600" dirty="0" err="1"/>
                        <a:t>dermoscopy</a:t>
                      </a:r>
                      <a:r>
                        <a:rPr lang="en-US" sz="1600" dirty="0"/>
                        <a:t> datasets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Federated learning achieves performance comparable to centralized, preserving </a:t>
                      </a:r>
                      <a:r>
                        <a:rPr lang="en-US" sz="1600" b="1" dirty="0"/>
                        <a:t>privacy</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Requires large-scale distributed datasets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Jang et al.</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441550">
                <a:tc>
                  <a:txBody>
                    <a:bodyPr/>
                    <a:lstStyle/>
                    <a:p>
                      <a:pPr marL="0" marR="0" lvl="0" indent="0" algn="l" rtl="0">
                        <a:lnSpc>
                          <a:spcPct val="100000"/>
                        </a:lnSpc>
                        <a:spcBef>
                          <a:spcPts val="0"/>
                        </a:spcBef>
                        <a:spcAft>
                          <a:spcPts val="0"/>
                        </a:spcAft>
                        <a:buNone/>
                      </a:pPr>
                      <a:r>
                        <a:rPr lang="en-US" sz="1500" u="none" strike="noStrike" cap="none" dirty="0">
                          <a:solidFill>
                            <a:schemeClr val="dk1"/>
                          </a:solidFill>
                          <a:latin typeface="Times New Roman"/>
                          <a:cs typeface="Times New Roman"/>
                          <a:sym typeface="Times New Roman"/>
                        </a:rPr>
                        <a:t>4.</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Multiclass skin lesion classification and localization from dermoscopic images</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2025, </a:t>
                      </a:r>
                      <a:r>
                        <a:rPr lang="en-US" sz="1600" i="1" dirty="0"/>
                        <a:t>Computers in Biology and Medicine</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Proposed </a:t>
                      </a:r>
                      <a:r>
                        <a:rPr lang="en-US" sz="1600" dirty="0" err="1"/>
                        <a:t>multimodel</a:t>
                      </a:r>
                      <a:r>
                        <a:rPr lang="en-US" sz="1600" dirty="0"/>
                        <a:t> </a:t>
                      </a:r>
                      <a:r>
                        <a:rPr lang="en-US" sz="1600" b="1" dirty="0"/>
                        <a:t>fusion</a:t>
                      </a:r>
                      <a:r>
                        <a:rPr lang="en-US" sz="1600" dirty="0"/>
                        <a:t> for classification + localization on </a:t>
                      </a:r>
                      <a:r>
                        <a:rPr lang="en-US" sz="1600" b="1" dirty="0"/>
                        <a:t>HAM10000</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Achieved ~88% accuracy; </a:t>
                      </a:r>
                      <a:r>
                        <a:rPr lang="en-US" sz="1600" b="1" dirty="0"/>
                        <a:t>localization aids interpretability</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Computationally expensive; harder to deploy</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Arshad et al.</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28524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A80D8499-07C2-E6A3-32B2-A73ACA9FFA44}"/>
            </a:ext>
          </a:extLst>
        </p:cNvPr>
        <p:cNvGrpSpPr/>
        <p:nvPr/>
      </p:nvGrpSpPr>
      <p:grpSpPr>
        <a:xfrm>
          <a:off x="0" y="0"/>
          <a:ext cx="0" cy="0"/>
          <a:chOff x="0" y="0"/>
          <a:chExt cx="0" cy="0"/>
        </a:xfrm>
      </p:grpSpPr>
      <p:sp>
        <p:nvSpPr>
          <p:cNvPr id="122" name="Google Shape;122;p16">
            <a:extLst>
              <a:ext uri="{FF2B5EF4-FFF2-40B4-BE49-F238E27FC236}">
                <a16:creationId xmlns:a16="http://schemas.microsoft.com/office/drawing/2014/main" id="{D0BCD2F1-6351-7A06-FFA6-C607E32F7175}"/>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Literature Review  </a:t>
            </a:r>
            <a:endParaRPr sz="2400"/>
          </a:p>
        </p:txBody>
      </p:sp>
      <p:sp>
        <p:nvSpPr>
          <p:cNvPr id="123" name="Google Shape;123;p16">
            <a:extLst>
              <a:ext uri="{FF2B5EF4-FFF2-40B4-BE49-F238E27FC236}">
                <a16:creationId xmlns:a16="http://schemas.microsoft.com/office/drawing/2014/main" id="{CB43AAEB-6FEC-BAFF-4BB0-19754F1B9F98}"/>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graphicFrame>
        <p:nvGraphicFramePr>
          <p:cNvPr id="124" name="Google Shape;124;p16">
            <a:extLst>
              <a:ext uri="{FF2B5EF4-FFF2-40B4-BE49-F238E27FC236}">
                <a16:creationId xmlns:a16="http://schemas.microsoft.com/office/drawing/2014/main" id="{5950C499-9222-AAF6-B4B1-DEF8F7478726}"/>
              </a:ext>
            </a:extLst>
          </p:cNvPr>
          <p:cNvGraphicFramePr/>
          <p:nvPr>
            <p:extLst>
              <p:ext uri="{D42A27DB-BD31-4B8C-83A1-F6EECF244321}">
                <p14:modId xmlns:p14="http://schemas.microsoft.com/office/powerpoint/2010/main" val="245100622"/>
              </p:ext>
            </p:extLst>
          </p:nvPr>
        </p:nvGraphicFramePr>
        <p:xfrm>
          <a:off x="181232" y="1062681"/>
          <a:ext cx="11760850" cy="4999025"/>
        </p:xfrm>
        <a:graphic>
          <a:graphicData uri="http://schemas.openxmlformats.org/drawingml/2006/table">
            <a:tbl>
              <a:tblPr firstRow="1" bandRow="1">
                <a:noFill/>
                <a:tableStyleId>{00D05278-5E4C-4E56-BAF3-980960587669}</a:tableStyleId>
              </a:tblPr>
              <a:tblGrid>
                <a:gridCol w="754400">
                  <a:extLst>
                    <a:ext uri="{9D8B030D-6E8A-4147-A177-3AD203B41FA5}">
                      <a16:colId xmlns:a16="http://schemas.microsoft.com/office/drawing/2014/main" val="20000"/>
                    </a:ext>
                  </a:extLst>
                </a:gridCol>
                <a:gridCol w="2146175">
                  <a:extLst>
                    <a:ext uri="{9D8B030D-6E8A-4147-A177-3AD203B41FA5}">
                      <a16:colId xmlns:a16="http://schemas.microsoft.com/office/drawing/2014/main" val="20001"/>
                    </a:ext>
                  </a:extLst>
                </a:gridCol>
                <a:gridCol w="2405375">
                  <a:extLst>
                    <a:ext uri="{9D8B030D-6E8A-4147-A177-3AD203B41FA5}">
                      <a16:colId xmlns:a16="http://schemas.microsoft.com/office/drawing/2014/main" val="20002"/>
                    </a:ext>
                  </a:extLst>
                </a:gridCol>
                <a:gridCol w="1728400">
                  <a:extLst>
                    <a:ext uri="{9D8B030D-6E8A-4147-A177-3AD203B41FA5}">
                      <a16:colId xmlns:a16="http://schemas.microsoft.com/office/drawing/2014/main" val="20003"/>
                    </a:ext>
                  </a:extLst>
                </a:gridCol>
                <a:gridCol w="1802125">
                  <a:extLst>
                    <a:ext uri="{9D8B030D-6E8A-4147-A177-3AD203B41FA5}">
                      <a16:colId xmlns:a16="http://schemas.microsoft.com/office/drawing/2014/main" val="20004"/>
                    </a:ext>
                  </a:extLst>
                </a:gridCol>
                <a:gridCol w="1254850">
                  <a:extLst>
                    <a:ext uri="{9D8B030D-6E8A-4147-A177-3AD203B41FA5}">
                      <a16:colId xmlns:a16="http://schemas.microsoft.com/office/drawing/2014/main" val="20005"/>
                    </a:ext>
                  </a:extLst>
                </a:gridCol>
                <a:gridCol w="1669525">
                  <a:extLst>
                    <a:ext uri="{9D8B030D-6E8A-4147-A177-3AD203B41FA5}">
                      <a16:colId xmlns:a16="http://schemas.microsoft.com/office/drawing/2014/main" val="20006"/>
                    </a:ext>
                  </a:extLst>
                </a:gridCol>
              </a:tblGrid>
              <a:tr h="568325">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Sr. No</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Title of the paper</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Year &amp; Publication Details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Methodology</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Findings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Limitations/Challenges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Research Gap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989150">
                <a:tc>
                  <a:txBody>
                    <a:bodyPr/>
                    <a:lstStyle/>
                    <a:p>
                      <a:pPr marL="0" marR="0" lvl="0" indent="0" algn="l" rtl="0">
                        <a:lnSpc>
                          <a:spcPct val="100000"/>
                        </a:lnSpc>
                        <a:spcBef>
                          <a:spcPts val="0"/>
                        </a:spcBef>
                        <a:spcAft>
                          <a:spcPts val="0"/>
                        </a:spcAft>
                        <a:buNone/>
                      </a:pPr>
                      <a:r>
                        <a:rPr lang="en-US" sz="1500" u="none" strike="noStrike" cap="none" dirty="0">
                          <a:latin typeface="Times New Roman"/>
                          <a:cs typeface="Times New Roman"/>
                          <a:sym typeface="Times New Roman"/>
                        </a:rPr>
                        <a:t>5.</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Melanoma Skin Cancer Identification with Explainability (Grad-CAM/Grad-CAM++)</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500"/>
                        <a:buFont typeface="Arial"/>
                        <a:buNone/>
                      </a:pPr>
                      <a:r>
                        <a:rPr lang="en-IN" sz="1600" dirty="0"/>
                        <a:t>2024, </a:t>
                      </a:r>
                      <a:r>
                        <a:rPr lang="en-IN" sz="1600" i="1" dirty="0"/>
                        <a:t>Electronics (MDPI)</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Compared </a:t>
                      </a:r>
                      <a:r>
                        <a:rPr lang="en-US" sz="1600" b="1" dirty="0"/>
                        <a:t>Grad-CAM vs Grad-CAM++</a:t>
                      </a:r>
                      <a:r>
                        <a:rPr lang="en-US" sz="1600" dirty="0"/>
                        <a:t> on HAM10000</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Grad-CAM heatmaps provide clear </a:t>
                      </a:r>
                      <a:r>
                        <a:rPr lang="en-US" sz="1600" b="1" dirty="0"/>
                        <a:t>lesion-focused attention</a:t>
                      </a:r>
                      <a:r>
                        <a:rPr lang="en-US" sz="1600" dirty="0"/>
                        <a:t>, boosting clinician confidence</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Grad-CAM may fail on ambiguous lesions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Mahmud et al.</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441550">
                <a:tc>
                  <a:txBody>
                    <a:bodyPr/>
                    <a:lstStyle/>
                    <a:p>
                      <a:pPr marL="0" marR="0" lvl="0" indent="0" algn="l" rtl="0">
                        <a:lnSpc>
                          <a:spcPct val="100000"/>
                        </a:lnSpc>
                        <a:spcBef>
                          <a:spcPts val="0"/>
                        </a:spcBef>
                        <a:spcAft>
                          <a:spcPts val="0"/>
                        </a:spcAft>
                        <a:buNone/>
                      </a:pPr>
                      <a:r>
                        <a:rPr lang="en-IN" dirty="0"/>
                        <a:t>6.</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Enhanced skin cancer diagnosis using optimized CNN on HAM10000</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a:buNone/>
                      </a:pPr>
                      <a:r>
                        <a:rPr lang="en-IN" dirty="0"/>
                        <a:t>2024, </a:t>
                      </a:r>
                      <a:r>
                        <a:rPr lang="en-IN" i="1" dirty="0"/>
                        <a:t>Sensors / PMC</a:t>
                      </a:r>
                      <a:endParaRPr lang="en-IN" dirty="0"/>
                    </a:p>
                  </a:txBody>
                  <a:tcPr anchor="ctr"/>
                </a:tc>
                <a:tc>
                  <a:txBody>
                    <a:bodyPr/>
                    <a:lstStyle/>
                    <a:p>
                      <a:pPr marL="0" marR="0" lvl="0" indent="0" algn="l" rtl="0">
                        <a:lnSpc>
                          <a:spcPct val="100000"/>
                        </a:lnSpc>
                        <a:spcBef>
                          <a:spcPts val="0"/>
                        </a:spcBef>
                        <a:spcAft>
                          <a:spcPts val="0"/>
                        </a:spcAft>
                        <a:buNone/>
                      </a:pPr>
                      <a:r>
                        <a:rPr lang="en-US" sz="1600" dirty="0"/>
                        <a:t>Designed an optimized CNN pipeline trained on HAM10000</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Accuracy improved vs naive CNN, but still below ResNet50 levels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CNN lacks feature depth; struggles with melanoma</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Alam et al.</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14814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686AFE2D-DF40-C5B0-2AE4-B36DA2CD0FDB}"/>
            </a:ext>
          </a:extLst>
        </p:cNvPr>
        <p:cNvGrpSpPr/>
        <p:nvPr/>
      </p:nvGrpSpPr>
      <p:grpSpPr>
        <a:xfrm>
          <a:off x="0" y="0"/>
          <a:ext cx="0" cy="0"/>
          <a:chOff x="0" y="0"/>
          <a:chExt cx="0" cy="0"/>
        </a:xfrm>
      </p:grpSpPr>
      <p:sp>
        <p:nvSpPr>
          <p:cNvPr id="122" name="Google Shape;122;p16">
            <a:extLst>
              <a:ext uri="{FF2B5EF4-FFF2-40B4-BE49-F238E27FC236}">
                <a16:creationId xmlns:a16="http://schemas.microsoft.com/office/drawing/2014/main" id="{6DCF3C9F-A4FD-9A04-3EEE-9250C7174DFB}"/>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Literature Review  </a:t>
            </a:r>
            <a:endParaRPr sz="2400"/>
          </a:p>
        </p:txBody>
      </p:sp>
      <p:sp>
        <p:nvSpPr>
          <p:cNvPr id="123" name="Google Shape;123;p16">
            <a:extLst>
              <a:ext uri="{FF2B5EF4-FFF2-40B4-BE49-F238E27FC236}">
                <a16:creationId xmlns:a16="http://schemas.microsoft.com/office/drawing/2014/main" id="{4DD38D03-5A82-FDD1-837A-878B9B611B12}"/>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graphicFrame>
        <p:nvGraphicFramePr>
          <p:cNvPr id="124" name="Google Shape;124;p16">
            <a:extLst>
              <a:ext uri="{FF2B5EF4-FFF2-40B4-BE49-F238E27FC236}">
                <a16:creationId xmlns:a16="http://schemas.microsoft.com/office/drawing/2014/main" id="{58D6F610-28AE-4095-D71E-3E278E382310}"/>
              </a:ext>
            </a:extLst>
          </p:cNvPr>
          <p:cNvGraphicFramePr/>
          <p:nvPr>
            <p:extLst>
              <p:ext uri="{D42A27DB-BD31-4B8C-83A1-F6EECF244321}">
                <p14:modId xmlns:p14="http://schemas.microsoft.com/office/powerpoint/2010/main" val="3733650944"/>
              </p:ext>
            </p:extLst>
          </p:nvPr>
        </p:nvGraphicFramePr>
        <p:xfrm>
          <a:off x="181232" y="1062681"/>
          <a:ext cx="11760850" cy="4730075"/>
        </p:xfrm>
        <a:graphic>
          <a:graphicData uri="http://schemas.openxmlformats.org/drawingml/2006/table">
            <a:tbl>
              <a:tblPr firstRow="1" bandRow="1">
                <a:noFill/>
                <a:tableStyleId>{00D05278-5E4C-4E56-BAF3-980960587669}</a:tableStyleId>
              </a:tblPr>
              <a:tblGrid>
                <a:gridCol w="754400">
                  <a:extLst>
                    <a:ext uri="{9D8B030D-6E8A-4147-A177-3AD203B41FA5}">
                      <a16:colId xmlns:a16="http://schemas.microsoft.com/office/drawing/2014/main" val="20000"/>
                    </a:ext>
                  </a:extLst>
                </a:gridCol>
                <a:gridCol w="2146175">
                  <a:extLst>
                    <a:ext uri="{9D8B030D-6E8A-4147-A177-3AD203B41FA5}">
                      <a16:colId xmlns:a16="http://schemas.microsoft.com/office/drawing/2014/main" val="20001"/>
                    </a:ext>
                  </a:extLst>
                </a:gridCol>
                <a:gridCol w="2405375">
                  <a:extLst>
                    <a:ext uri="{9D8B030D-6E8A-4147-A177-3AD203B41FA5}">
                      <a16:colId xmlns:a16="http://schemas.microsoft.com/office/drawing/2014/main" val="20002"/>
                    </a:ext>
                  </a:extLst>
                </a:gridCol>
                <a:gridCol w="1728400">
                  <a:extLst>
                    <a:ext uri="{9D8B030D-6E8A-4147-A177-3AD203B41FA5}">
                      <a16:colId xmlns:a16="http://schemas.microsoft.com/office/drawing/2014/main" val="20003"/>
                    </a:ext>
                  </a:extLst>
                </a:gridCol>
                <a:gridCol w="1802125">
                  <a:extLst>
                    <a:ext uri="{9D8B030D-6E8A-4147-A177-3AD203B41FA5}">
                      <a16:colId xmlns:a16="http://schemas.microsoft.com/office/drawing/2014/main" val="20004"/>
                    </a:ext>
                  </a:extLst>
                </a:gridCol>
                <a:gridCol w="1254850">
                  <a:extLst>
                    <a:ext uri="{9D8B030D-6E8A-4147-A177-3AD203B41FA5}">
                      <a16:colId xmlns:a16="http://schemas.microsoft.com/office/drawing/2014/main" val="20005"/>
                    </a:ext>
                  </a:extLst>
                </a:gridCol>
                <a:gridCol w="1669525">
                  <a:extLst>
                    <a:ext uri="{9D8B030D-6E8A-4147-A177-3AD203B41FA5}">
                      <a16:colId xmlns:a16="http://schemas.microsoft.com/office/drawing/2014/main" val="20006"/>
                    </a:ext>
                  </a:extLst>
                </a:gridCol>
              </a:tblGrid>
              <a:tr h="734035">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Sr. No</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Title of the paper</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Year &amp; Publication Details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Methodology</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Findings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Limitations/Challenges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Research Gap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026695">
                <a:tc>
                  <a:txBody>
                    <a:bodyPr/>
                    <a:lstStyle/>
                    <a:p>
                      <a:pPr marL="0" marR="0" lvl="0" indent="0" algn="l" rtl="0">
                        <a:lnSpc>
                          <a:spcPct val="100000"/>
                        </a:lnSpc>
                        <a:spcBef>
                          <a:spcPts val="0"/>
                        </a:spcBef>
                        <a:spcAft>
                          <a:spcPts val="0"/>
                        </a:spcAft>
                        <a:buNone/>
                      </a:pPr>
                      <a:r>
                        <a:rPr lang="en-US" sz="1500" u="none" strike="noStrike" cap="none" dirty="0">
                          <a:latin typeface="Times New Roman"/>
                          <a:cs typeface="Times New Roman"/>
                          <a:sym typeface="Times New Roman"/>
                        </a:rPr>
                        <a:t>7.</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Accurate Skin Lesion Classification Using Multimodal Deep Learning (HAM10000)</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500"/>
                        <a:buFont typeface="Arial"/>
                        <a:buNone/>
                      </a:pPr>
                      <a:r>
                        <a:rPr lang="en-IN" sz="1600" dirty="0"/>
                        <a:t>2024, </a:t>
                      </a:r>
                      <a:r>
                        <a:rPr lang="en-IN" sz="1600" i="1" dirty="0"/>
                        <a:t>medRxiv (preprint)</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Integrated </a:t>
                      </a:r>
                      <a:r>
                        <a:rPr lang="en-IN" sz="1600" b="1" dirty="0"/>
                        <a:t>image + metadata</a:t>
                      </a:r>
                      <a:r>
                        <a:rPr lang="en-IN" sz="1600" dirty="0"/>
                        <a:t> for multimodal classification</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Multimodal features outperform image-only CNNs on HAM10000</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Preprint (not peer-reviewed); metadata not always available</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Multimodal DL Group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441550">
                <a:tc>
                  <a:txBody>
                    <a:bodyPr/>
                    <a:lstStyle/>
                    <a:p>
                      <a:pPr marL="0" marR="0" lvl="0" indent="0" algn="l" rtl="0">
                        <a:lnSpc>
                          <a:spcPct val="100000"/>
                        </a:lnSpc>
                        <a:spcBef>
                          <a:spcPts val="0"/>
                        </a:spcBef>
                        <a:spcAft>
                          <a:spcPts val="0"/>
                        </a:spcAft>
                        <a:buNone/>
                      </a:pPr>
                      <a:r>
                        <a:rPr lang="en-US" sz="1500" u="none" strike="noStrike" cap="none" dirty="0">
                          <a:solidFill>
                            <a:schemeClr val="dk1"/>
                          </a:solidFill>
                          <a:latin typeface="Times New Roman"/>
                          <a:cs typeface="Times New Roman"/>
                          <a:sym typeface="Times New Roman"/>
                        </a:rPr>
                        <a:t>8.</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Comparative analysis of multimodal architectures for HAM10000 (with Grad-CAM)</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2025, </a:t>
                      </a:r>
                      <a:r>
                        <a:rPr lang="en-IN" sz="1600" i="1" dirty="0"/>
                        <a:t>Frontiers in Artificial Intelligence</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Benchmarked multimodal models; applied Grad-CAM</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Confirmed </a:t>
                      </a:r>
                      <a:r>
                        <a:rPr lang="en-US" sz="1600" b="1" dirty="0"/>
                        <a:t>Grad-CAM explains predictions</a:t>
                      </a:r>
                      <a:r>
                        <a:rPr lang="en-US" sz="1600" dirty="0"/>
                        <a:t> effectively in multimodal networks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Models more complex, harder to train</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Frontiers AI Research Group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10786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4A6B6938-0CEE-7BAB-58EB-F84DF0F7B2E4}"/>
            </a:ext>
          </a:extLst>
        </p:cNvPr>
        <p:cNvGrpSpPr/>
        <p:nvPr/>
      </p:nvGrpSpPr>
      <p:grpSpPr>
        <a:xfrm>
          <a:off x="0" y="0"/>
          <a:ext cx="0" cy="0"/>
          <a:chOff x="0" y="0"/>
          <a:chExt cx="0" cy="0"/>
        </a:xfrm>
      </p:grpSpPr>
      <p:sp>
        <p:nvSpPr>
          <p:cNvPr id="122" name="Google Shape;122;p16">
            <a:extLst>
              <a:ext uri="{FF2B5EF4-FFF2-40B4-BE49-F238E27FC236}">
                <a16:creationId xmlns:a16="http://schemas.microsoft.com/office/drawing/2014/main" id="{4BA8EA20-60D2-E03D-F86D-97FA0794682B}"/>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Literature Review  </a:t>
            </a:r>
            <a:endParaRPr sz="2400"/>
          </a:p>
        </p:txBody>
      </p:sp>
      <p:sp>
        <p:nvSpPr>
          <p:cNvPr id="123" name="Google Shape;123;p16">
            <a:extLst>
              <a:ext uri="{FF2B5EF4-FFF2-40B4-BE49-F238E27FC236}">
                <a16:creationId xmlns:a16="http://schemas.microsoft.com/office/drawing/2014/main" id="{D39C1F9A-2C2E-6DEC-40FD-B0A9F32C8C2D}"/>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graphicFrame>
        <p:nvGraphicFramePr>
          <p:cNvPr id="124" name="Google Shape;124;p16">
            <a:extLst>
              <a:ext uri="{FF2B5EF4-FFF2-40B4-BE49-F238E27FC236}">
                <a16:creationId xmlns:a16="http://schemas.microsoft.com/office/drawing/2014/main" id="{69A1517A-125D-F9CF-A8EF-263AD64AEDFA}"/>
              </a:ext>
            </a:extLst>
          </p:cNvPr>
          <p:cNvGraphicFramePr/>
          <p:nvPr>
            <p:extLst>
              <p:ext uri="{D42A27DB-BD31-4B8C-83A1-F6EECF244321}">
                <p14:modId xmlns:p14="http://schemas.microsoft.com/office/powerpoint/2010/main" val="733049732"/>
              </p:ext>
            </p:extLst>
          </p:nvPr>
        </p:nvGraphicFramePr>
        <p:xfrm>
          <a:off x="181232" y="1062681"/>
          <a:ext cx="11760850" cy="4730075"/>
        </p:xfrm>
        <a:graphic>
          <a:graphicData uri="http://schemas.openxmlformats.org/drawingml/2006/table">
            <a:tbl>
              <a:tblPr firstRow="1" bandRow="1">
                <a:noFill/>
                <a:tableStyleId>{00D05278-5E4C-4E56-BAF3-980960587669}</a:tableStyleId>
              </a:tblPr>
              <a:tblGrid>
                <a:gridCol w="754400">
                  <a:extLst>
                    <a:ext uri="{9D8B030D-6E8A-4147-A177-3AD203B41FA5}">
                      <a16:colId xmlns:a16="http://schemas.microsoft.com/office/drawing/2014/main" val="20000"/>
                    </a:ext>
                  </a:extLst>
                </a:gridCol>
                <a:gridCol w="2146175">
                  <a:extLst>
                    <a:ext uri="{9D8B030D-6E8A-4147-A177-3AD203B41FA5}">
                      <a16:colId xmlns:a16="http://schemas.microsoft.com/office/drawing/2014/main" val="20001"/>
                    </a:ext>
                  </a:extLst>
                </a:gridCol>
                <a:gridCol w="2405375">
                  <a:extLst>
                    <a:ext uri="{9D8B030D-6E8A-4147-A177-3AD203B41FA5}">
                      <a16:colId xmlns:a16="http://schemas.microsoft.com/office/drawing/2014/main" val="20002"/>
                    </a:ext>
                  </a:extLst>
                </a:gridCol>
                <a:gridCol w="1728400">
                  <a:extLst>
                    <a:ext uri="{9D8B030D-6E8A-4147-A177-3AD203B41FA5}">
                      <a16:colId xmlns:a16="http://schemas.microsoft.com/office/drawing/2014/main" val="20003"/>
                    </a:ext>
                  </a:extLst>
                </a:gridCol>
                <a:gridCol w="1767997">
                  <a:extLst>
                    <a:ext uri="{9D8B030D-6E8A-4147-A177-3AD203B41FA5}">
                      <a16:colId xmlns:a16="http://schemas.microsoft.com/office/drawing/2014/main" val="20004"/>
                    </a:ext>
                  </a:extLst>
                </a:gridCol>
                <a:gridCol w="1288978">
                  <a:extLst>
                    <a:ext uri="{9D8B030D-6E8A-4147-A177-3AD203B41FA5}">
                      <a16:colId xmlns:a16="http://schemas.microsoft.com/office/drawing/2014/main" val="20005"/>
                    </a:ext>
                  </a:extLst>
                </a:gridCol>
                <a:gridCol w="1669525">
                  <a:extLst>
                    <a:ext uri="{9D8B030D-6E8A-4147-A177-3AD203B41FA5}">
                      <a16:colId xmlns:a16="http://schemas.microsoft.com/office/drawing/2014/main" val="20006"/>
                    </a:ext>
                  </a:extLst>
                </a:gridCol>
              </a:tblGrid>
              <a:tr h="734035">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Sr. No</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Title of the paper</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Year &amp; Publication Details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Methodology</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Findings</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Limitations/Challenges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500" u="none" strike="noStrike" cap="none" dirty="0">
                          <a:latin typeface="Times New Roman"/>
                          <a:ea typeface="Times New Roman"/>
                          <a:cs typeface="Times New Roman"/>
                          <a:sym typeface="Times New Roman"/>
                        </a:rPr>
                        <a:t>Research Gap</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026695">
                <a:tc>
                  <a:txBody>
                    <a:bodyPr/>
                    <a:lstStyle/>
                    <a:p>
                      <a:pPr marL="0" marR="0" lvl="0" indent="0" algn="l" rtl="0">
                        <a:lnSpc>
                          <a:spcPct val="100000"/>
                        </a:lnSpc>
                        <a:spcBef>
                          <a:spcPts val="0"/>
                        </a:spcBef>
                        <a:spcAft>
                          <a:spcPts val="0"/>
                        </a:spcAft>
                        <a:buNone/>
                      </a:pPr>
                      <a:r>
                        <a:rPr lang="en-US" sz="1500" u="none" strike="noStrike" cap="none" dirty="0">
                          <a:latin typeface="Times New Roman"/>
                          <a:cs typeface="Times New Roman"/>
                          <a:sym typeface="Times New Roman"/>
                        </a:rPr>
                        <a:t>9.</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Analysis of the ISIC image datasets: usage, benchmarks &amp; tasks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500"/>
                        <a:buFont typeface="Arial"/>
                        <a:buNone/>
                      </a:pPr>
                      <a:r>
                        <a:rPr lang="en-US" sz="1600" dirty="0"/>
                        <a:t>2022, </a:t>
                      </a:r>
                      <a:r>
                        <a:rPr lang="en-US" sz="1600" i="1" dirty="0"/>
                        <a:t>Medical Image Analysis (Elsevier)</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Reviewed ISIC/HAM10000 datasets, tasks, and metrics</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Identified HAM10000 as benchmark; stressed need for </a:t>
                      </a:r>
                      <a:r>
                        <a:rPr lang="en-US" sz="1600" b="1" dirty="0"/>
                        <a:t>macro-F1</a:t>
                      </a:r>
                      <a:r>
                        <a:rPr lang="en-US" sz="1600" dirty="0"/>
                        <a:t> due to imbalance</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Review only, no new model</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ISIC Challenge Team</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2441550">
                <a:tc>
                  <a:txBody>
                    <a:bodyPr/>
                    <a:lstStyle/>
                    <a:p>
                      <a:pPr marL="0" marR="0" lvl="0" indent="0" algn="l" rtl="0">
                        <a:lnSpc>
                          <a:spcPct val="100000"/>
                        </a:lnSpc>
                        <a:spcBef>
                          <a:spcPts val="0"/>
                        </a:spcBef>
                        <a:spcAft>
                          <a:spcPts val="0"/>
                        </a:spcAft>
                        <a:buNone/>
                      </a:pPr>
                      <a:r>
                        <a:rPr lang="en-US" sz="1500" u="none" strike="noStrike" cap="none" dirty="0">
                          <a:solidFill>
                            <a:schemeClr val="dk1"/>
                          </a:solidFill>
                          <a:latin typeface="Times New Roman"/>
                          <a:cs typeface="Times New Roman"/>
                          <a:sym typeface="Times New Roman"/>
                        </a:rPr>
                        <a:t>10.</a:t>
                      </a:r>
                      <a:endParaRPr dirty="0"/>
                    </a:p>
                  </a:txBody>
                  <a:tcPr marL="91450" marR="91450" marT="45725" marB="45725"/>
                </a:tc>
                <a:tc>
                  <a:txBody>
                    <a:bodyPr/>
                    <a:lstStyle/>
                    <a:p>
                      <a:pPr marL="0" marR="0" lvl="0" indent="0" algn="l" rtl="0">
                        <a:lnSpc>
                          <a:spcPct val="100000"/>
                        </a:lnSpc>
                        <a:spcBef>
                          <a:spcPts val="0"/>
                        </a:spcBef>
                        <a:spcAft>
                          <a:spcPts val="0"/>
                        </a:spcAft>
                        <a:buNone/>
                      </a:pPr>
                      <a:r>
                        <a:rPr lang="en-US" sz="1600" dirty="0"/>
                        <a:t>Artificial intelligence and skin cancer (state-of-the-art review)</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2024, </a:t>
                      </a:r>
                      <a:r>
                        <a:rPr lang="en-IN" sz="1600" i="1" dirty="0"/>
                        <a:t>Clinics in Dermatology / PMC</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Reviewed AI systems for melanoma &amp; non-melanoma detection</a:t>
                      </a:r>
                      <a:endParaRPr sz="15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US" sz="1600" dirty="0"/>
                        <a:t>Highlighted AI’s role in </a:t>
                      </a:r>
                      <a:r>
                        <a:rPr lang="en-US" sz="1600" b="1" dirty="0"/>
                        <a:t>early detection</a:t>
                      </a:r>
                      <a:r>
                        <a:rPr lang="en-US" sz="1600" dirty="0"/>
                        <a:t> and clinical integration</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Deployment challenges: imbalance, external validation, regulation</a:t>
                      </a:r>
                      <a:endParaRPr sz="15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None/>
                      </a:pPr>
                      <a:r>
                        <a:rPr lang="en-IN" sz="1600" dirty="0"/>
                        <a:t>Dermatology AI Consortium</a:t>
                      </a:r>
                      <a:endParaRPr sz="15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6150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CBFF7FC2-1B66-7783-77CA-F6C8BC06A9AA}"/>
            </a:ext>
          </a:extLst>
        </p:cNvPr>
        <p:cNvGrpSpPr/>
        <p:nvPr/>
      </p:nvGrpSpPr>
      <p:grpSpPr>
        <a:xfrm>
          <a:off x="0" y="0"/>
          <a:ext cx="0" cy="0"/>
          <a:chOff x="0" y="0"/>
          <a:chExt cx="0" cy="0"/>
        </a:xfrm>
      </p:grpSpPr>
      <p:sp>
        <p:nvSpPr>
          <p:cNvPr id="149" name="Google Shape;149;p20">
            <a:extLst>
              <a:ext uri="{FF2B5EF4-FFF2-40B4-BE49-F238E27FC236}">
                <a16:creationId xmlns:a16="http://schemas.microsoft.com/office/drawing/2014/main" id="{9B60254C-30F5-5329-32A7-4F49844F51C4}"/>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4400" dirty="0">
                <a:latin typeface="Times New Roman"/>
                <a:ea typeface="Times New Roman"/>
                <a:cs typeface="Times New Roman"/>
                <a:sym typeface="Times New Roman"/>
              </a:rPr>
              <a:t>DATASET</a:t>
            </a:r>
            <a:endParaRPr sz="4400" dirty="0">
              <a:latin typeface="Times New Roman"/>
              <a:ea typeface="Times New Roman"/>
              <a:cs typeface="Times New Roman"/>
              <a:sym typeface="Times New Roman"/>
            </a:endParaRPr>
          </a:p>
        </p:txBody>
      </p:sp>
      <p:sp>
        <p:nvSpPr>
          <p:cNvPr id="150" name="Google Shape;150;p20">
            <a:extLst>
              <a:ext uri="{FF2B5EF4-FFF2-40B4-BE49-F238E27FC236}">
                <a16:creationId xmlns:a16="http://schemas.microsoft.com/office/drawing/2014/main" id="{F2E0923E-E9A2-E82B-86AC-2163AD31C9B7}"/>
              </a:ext>
            </a:extLst>
          </p:cNvPr>
          <p:cNvSpPr txBox="1">
            <a:spLocks noGrp="1"/>
          </p:cNvSpPr>
          <p:nvPr>
            <p:ph type="body" idx="1"/>
          </p:nvPr>
        </p:nvSpPr>
        <p:spPr>
          <a:xfrm>
            <a:off x="192505" y="994220"/>
            <a:ext cx="12080774" cy="5795746"/>
          </a:xfrm>
          <a:prstGeom prst="rect">
            <a:avLst/>
          </a:prstGeom>
          <a:noFill/>
          <a:ln>
            <a:noFill/>
          </a:ln>
        </p:spPr>
        <p:txBody>
          <a:bodyPr spcFirstLastPara="1" wrap="square" lIns="91425" tIns="45700" rIns="91425" bIns="45700" anchor="t" anchorCtr="0">
            <a:normAutofit/>
          </a:bodyPr>
          <a:lstStyle/>
          <a:p>
            <a:r>
              <a:rPr lang="en-IN" b="1" dirty="0"/>
              <a:t>Dataset: HAM10000 ("Human Against Machine with 10,000 Training Images")</a:t>
            </a:r>
            <a:endParaRPr lang="en-IN" dirty="0"/>
          </a:p>
          <a:p>
            <a:r>
              <a:rPr lang="en-IN" dirty="0"/>
              <a:t>10,015 </a:t>
            </a:r>
            <a:r>
              <a:rPr lang="en-IN" dirty="0" err="1"/>
              <a:t>dermoscopic</a:t>
            </a:r>
            <a:r>
              <a:rPr lang="en-IN" dirty="0"/>
              <a:t> images</a:t>
            </a:r>
          </a:p>
          <a:p>
            <a:r>
              <a:rPr lang="en-IN" dirty="0"/>
              <a:t>10,015 </a:t>
            </a:r>
            <a:r>
              <a:rPr lang="en-IN" dirty="0" err="1"/>
              <a:t>dermoscopic</a:t>
            </a:r>
            <a:r>
              <a:rPr lang="en-IN" dirty="0"/>
              <a:t> images</a:t>
            </a:r>
          </a:p>
          <a:p>
            <a:pPr lvl="1"/>
            <a:r>
              <a:rPr lang="en-IN" dirty="0" err="1"/>
              <a:t>akiec</a:t>
            </a:r>
            <a:r>
              <a:rPr lang="en-IN" dirty="0"/>
              <a:t> – Actinic keratoses</a:t>
            </a:r>
          </a:p>
          <a:p>
            <a:pPr lvl="1"/>
            <a:r>
              <a:rPr lang="en-IN" dirty="0"/>
              <a:t>bcc – Basal cell carcinoma</a:t>
            </a:r>
          </a:p>
          <a:p>
            <a:pPr lvl="1"/>
            <a:r>
              <a:rPr lang="en-IN" dirty="0" err="1"/>
              <a:t>bkl</a:t>
            </a:r>
            <a:r>
              <a:rPr lang="en-IN" dirty="0"/>
              <a:t> – Benign keratosis</a:t>
            </a:r>
          </a:p>
          <a:p>
            <a:pPr lvl="1"/>
            <a:r>
              <a:rPr lang="en-IN" dirty="0" err="1"/>
              <a:t>df</a:t>
            </a:r>
            <a:r>
              <a:rPr lang="en-IN" dirty="0"/>
              <a:t> – Dermatofibroma</a:t>
            </a:r>
          </a:p>
          <a:p>
            <a:pPr lvl="1"/>
            <a:r>
              <a:rPr lang="en-IN" dirty="0" err="1"/>
              <a:t>nv</a:t>
            </a:r>
            <a:r>
              <a:rPr lang="en-IN" dirty="0"/>
              <a:t> – Melanocytic nevi (most common, benign)</a:t>
            </a:r>
          </a:p>
          <a:p>
            <a:pPr lvl="1"/>
            <a:r>
              <a:rPr lang="en-IN" dirty="0" err="1"/>
              <a:t>vasc</a:t>
            </a:r>
            <a:r>
              <a:rPr lang="en-IN" dirty="0"/>
              <a:t> – Vascular lesions</a:t>
            </a:r>
          </a:p>
          <a:p>
            <a:pPr lvl="1"/>
            <a:r>
              <a:rPr lang="en-IN" dirty="0"/>
              <a:t>mel – Melanoma (deadly if undetected)</a:t>
            </a:r>
          </a:p>
        </p:txBody>
      </p:sp>
      <p:sp>
        <p:nvSpPr>
          <p:cNvPr id="151" name="Google Shape;151;p20">
            <a:extLst>
              <a:ext uri="{FF2B5EF4-FFF2-40B4-BE49-F238E27FC236}">
                <a16:creationId xmlns:a16="http://schemas.microsoft.com/office/drawing/2014/main" id="{48402D2A-A0DC-95D6-255E-E52B05D31B86}"/>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3" name="TextBox 2">
            <a:extLst>
              <a:ext uri="{FF2B5EF4-FFF2-40B4-BE49-F238E27FC236}">
                <a16:creationId xmlns:a16="http://schemas.microsoft.com/office/drawing/2014/main" id="{4FDD1FEB-0B55-2C74-9C39-CB2815E819B5}"/>
              </a:ext>
            </a:extLst>
          </p:cNvPr>
          <p:cNvSpPr txBox="1"/>
          <p:nvPr/>
        </p:nvSpPr>
        <p:spPr>
          <a:xfrm>
            <a:off x="2959769" y="3214954"/>
            <a:ext cx="6208294" cy="307777"/>
          </a:xfrm>
          <a:prstGeom prst="rect">
            <a:avLst/>
          </a:prstGeom>
          <a:noFill/>
        </p:spPr>
        <p:txBody>
          <a:bodyPr wrap="square">
            <a:spAutoFit/>
          </a:bodyPr>
          <a:lstStyle/>
          <a:p>
            <a:pPr>
              <a:buNone/>
            </a:pPr>
            <a:endParaRPr lang="en-IN" dirty="0"/>
          </a:p>
        </p:txBody>
      </p:sp>
      <p:sp>
        <p:nvSpPr>
          <p:cNvPr id="5" name="Rectangle 2">
            <a:extLst>
              <a:ext uri="{FF2B5EF4-FFF2-40B4-BE49-F238E27FC236}">
                <a16:creationId xmlns:a16="http://schemas.microsoft.com/office/drawing/2014/main" id="{E6926DAE-C059-39A4-EB2F-8BF8CE1CBDB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4" name="Picture 3">
            <a:extLst>
              <a:ext uri="{FF2B5EF4-FFF2-40B4-BE49-F238E27FC236}">
                <a16:creationId xmlns:a16="http://schemas.microsoft.com/office/drawing/2014/main" id="{6873B9E1-671A-5358-B977-88D9CA1B4898}"/>
              </a:ext>
            </a:extLst>
          </p:cNvPr>
          <p:cNvPicPr>
            <a:picLocks noChangeAspect="1"/>
          </p:cNvPicPr>
          <p:nvPr/>
        </p:nvPicPr>
        <p:blipFill>
          <a:blip r:embed="rId3"/>
          <a:stretch>
            <a:fillRect/>
          </a:stretch>
        </p:blipFill>
        <p:spPr>
          <a:xfrm>
            <a:off x="7355122" y="2789258"/>
            <a:ext cx="3972555" cy="2523656"/>
          </a:xfrm>
          <a:prstGeom prst="rect">
            <a:avLst/>
          </a:prstGeom>
        </p:spPr>
      </p:pic>
    </p:spTree>
    <p:extLst>
      <p:ext uri="{BB962C8B-B14F-4D97-AF65-F5344CB8AC3E}">
        <p14:creationId xmlns:p14="http://schemas.microsoft.com/office/powerpoint/2010/main" val="3946648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0"/>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4400" dirty="0">
                <a:latin typeface="Times New Roman"/>
                <a:ea typeface="Times New Roman"/>
                <a:cs typeface="Times New Roman"/>
                <a:sym typeface="Times New Roman"/>
              </a:rPr>
              <a:t>DATASET</a:t>
            </a:r>
            <a:endParaRPr sz="4400" dirty="0">
              <a:latin typeface="Times New Roman"/>
              <a:ea typeface="Times New Roman"/>
              <a:cs typeface="Times New Roman"/>
              <a:sym typeface="Times New Roman"/>
            </a:endParaRPr>
          </a:p>
        </p:txBody>
      </p:sp>
      <p:sp>
        <p:nvSpPr>
          <p:cNvPr id="150" name="Google Shape;150;p20"/>
          <p:cNvSpPr txBox="1">
            <a:spLocks noGrp="1"/>
          </p:cNvSpPr>
          <p:nvPr>
            <p:ph type="body" idx="1"/>
          </p:nvPr>
        </p:nvSpPr>
        <p:spPr>
          <a:xfrm>
            <a:off x="241666" y="1407175"/>
            <a:ext cx="12080774" cy="5795746"/>
          </a:xfrm>
          <a:prstGeom prst="rect">
            <a:avLst/>
          </a:prstGeom>
          <a:noFill/>
          <a:ln>
            <a:noFill/>
          </a:ln>
        </p:spPr>
        <p:txBody>
          <a:bodyPr spcFirstLastPara="1" wrap="square" lIns="91425" tIns="45700" rIns="91425" bIns="45700" anchor="t" anchorCtr="0">
            <a:normAutofit/>
          </a:bodyPr>
          <a:lstStyle/>
          <a:p>
            <a:r>
              <a:rPr lang="en-IN" b="1" dirty="0"/>
              <a:t>Image size</a:t>
            </a:r>
            <a:r>
              <a:rPr lang="en-IN" dirty="0"/>
              <a:t>: ~600×450 pixels, varying slightly.</a:t>
            </a:r>
          </a:p>
          <a:p>
            <a:r>
              <a:rPr lang="en-IN" b="1" dirty="0"/>
              <a:t>Format</a:t>
            </a:r>
            <a:r>
              <a:rPr lang="en-IN" dirty="0"/>
              <a:t>: JPEG images + a CSV metadata file containing:</a:t>
            </a:r>
          </a:p>
          <a:p>
            <a:r>
              <a:rPr lang="en-IN" b="1" dirty="0" err="1"/>
              <a:t>image_id</a:t>
            </a:r>
            <a:r>
              <a:rPr lang="en-IN" dirty="0"/>
              <a:t> (file name)</a:t>
            </a:r>
          </a:p>
          <a:p>
            <a:r>
              <a:rPr lang="en-IN" b="1" dirty="0"/>
              <a:t>dx</a:t>
            </a:r>
            <a:r>
              <a:rPr lang="en-IN" dirty="0"/>
              <a:t> (diagnosis / label)</a:t>
            </a:r>
          </a:p>
          <a:p>
            <a:r>
              <a:rPr lang="en-IN" b="1" dirty="0" err="1"/>
              <a:t>dx_type</a:t>
            </a:r>
            <a:r>
              <a:rPr lang="en-IN" dirty="0"/>
              <a:t> (method of diagnosis: histopathology, follow-up, etc.)</a:t>
            </a:r>
          </a:p>
          <a:p>
            <a:r>
              <a:rPr lang="en-IN" dirty="0"/>
              <a:t>age, sex, localization (extra patient info for analysis)</a:t>
            </a:r>
          </a:p>
        </p:txBody>
      </p:sp>
      <p:sp>
        <p:nvSpPr>
          <p:cNvPr id="151" name="Google Shape;151;p20"/>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3" name="TextBox 2">
            <a:extLst>
              <a:ext uri="{FF2B5EF4-FFF2-40B4-BE49-F238E27FC236}">
                <a16:creationId xmlns:a16="http://schemas.microsoft.com/office/drawing/2014/main" id="{7F613F30-F8F9-800F-7200-19846E1F7196}"/>
              </a:ext>
            </a:extLst>
          </p:cNvPr>
          <p:cNvSpPr txBox="1"/>
          <p:nvPr/>
        </p:nvSpPr>
        <p:spPr>
          <a:xfrm>
            <a:off x="2959769" y="3214954"/>
            <a:ext cx="6208294" cy="307777"/>
          </a:xfrm>
          <a:prstGeom prst="rect">
            <a:avLst/>
          </a:prstGeom>
          <a:noFill/>
        </p:spPr>
        <p:txBody>
          <a:bodyPr wrap="square">
            <a:spAutoFit/>
          </a:bodyPr>
          <a:lstStyle/>
          <a:p>
            <a:pPr>
              <a:buNone/>
            </a:pPr>
            <a:endParaRPr lang="en-IN" dirty="0"/>
          </a:p>
        </p:txBody>
      </p:sp>
      <p:sp>
        <p:nvSpPr>
          <p:cNvPr id="5" name="Rectangle 2">
            <a:extLst>
              <a:ext uri="{FF2B5EF4-FFF2-40B4-BE49-F238E27FC236}">
                <a16:creationId xmlns:a16="http://schemas.microsoft.com/office/drawing/2014/main" id="{C667511A-5E4A-FE95-0DC7-1CA081D8A10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F528C32A-B946-1C99-FB1D-854A6FD5F13C}"/>
            </a:ext>
          </a:extLst>
        </p:cNvPr>
        <p:cNvGrpSpPr/>
        <p:nvPr/>
      </p:nvGrpSpPr>
      <p:grpSpPr>
        <a:xfrm>
          <a:off x="0" y="0"/>
          <a:ext cx="0" cy="0"/>
          <a:chOff x="0" y="0"/>
          <a:chExt cx="0" cy="0"/>
        </a:xfrm>
      </p:grpSpPr>
      <p:sp>
        <p:nvSpPr>
          <p:cNvPr id="149" name="Google Shape;149;p20">
            <a:extLst>
              <a:ext uri="{FF2B5EF4-FFF2-40B4-BE49-F238E27FC236}">
                <a16:creationId xmlns:a16="http://schemas.microsoft.com/office/drawing/2014/main" id="{32081AB2-C51C-1DF8-523D-1D02A018C8BE}"/>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4400" dirty="0">
                <a:latin typeface="Times New Roman"/>
                <a:ea typeface="Times New Roman"/>
                <a:cs typeface="Times New Roman"/>
                <a:sym typeface="Times New Roman"/>
              </a:rPr>
              <a:t>Methodology</a:t>
            </a:r>
            <a:endParaRPr sz="4400" dirty="0">
              <a:latin typeface="Times New Roman"/>
              <a:ea typeface="Times New Roman"/>
              <a:cs typeface="Times New Roman"/>
              <a:sym typeface="Times New Roman"/>
            </a:endParaRPr>
          </a:p>
        </p:txBody>
      </p:sp>
      <p:sp>
        <p:nvSpPr>
          <p:cNvPr id="150" name="Google Shape;150;p20">
            <a:extLst>
              <a:ext uri="{FF2B5EF4-FFF2-40B4-BE49-F238E27FC236}">
                <a16:creationId xmlns:a16="http://schemas.microsoft.com/office/drawing/2014/main" id="{D3420D4C-71D6-599F-6695-5D60476E2580}"/>
              </a:ext>
            </a:extLst>
          </p:cNvPr>
          <p:cNvSpPr txBox="1">
            <a:spLocks noGrp="1"/>
          </p:cNvSpPr>
          <p:nvPr>
            <p:ph type="body" idx="1"/>
          </p:nvPr>
        </p:nvSpPr>
        <p:spPr>
          <a:xfrm>
            <a:off x="192505" y="994220"/>
            <a:ext cx="12080774" cy="5795746"/>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ct val="85714"/>
              <a:buChar char="•"/>
            </a:pPr>
            <a:r>
              <a:rPr lang="en-IN" b="1" dirty="0">
                <a:solidFill>
                  <a:srgbClr val="002060"/>
                </a:solidFill>
                <a:latin typeface="Times New Roman"/>
                <a:ea typeface="Times New Roman"/>
                <a:cs typeface="Times New Roman"/>
                <a:sym typeface="Times New Roman"/>
              </a:rPr>
              <a:t>Preprocessing</a:t>
            </a:r>
            <a:endParaRPr dirty="0"/>
          </a:p>
          <a:p>
            <a:pPr lvl="0" indent="-228600">
              <a:buSzPct val="257142"/>
              <a:buNone/>
            </a:pPr>
            <a:r>
              <a:rPr lang="en-IN" b="1" dirty="0"/>
              <a:t>Dataset:</a:t>
            </a:r>
            <a:r>
              <a:rPr lang="en-IN" dirty="0"/>
              <a:t> HAM10000 (10,015 images, 7 classes: </a:t>
            </a:r>
            <a:r>
              <a:rPr lang="en-IN" dirty="0" err="1"/>
              <a:t>akiec</a:t>
            </a:r>
            <a:r>
              <a:rPr lang="en-IN" dirty="0"/>
              <a:t>, bcc, </a:t>
            </a:r>
            <a:r>
              <a:rPr lang="en-IN" dirty="0" err="1"/>
              <a:t>bkl</a:t>
            </a:r>
            <a:r>
              <a:rPr lang="en-IN" dirty="0"/>
              <a:t>, df, mel, </a:t>
            </a:r>
            <a:r>
              <a:rPr lang="en-IN" dirty="0" err="1"/>
              <a:t>nv</a:t>
            </a:r>
            <a:r>
              <a:rPr lang="en-IN" dirty="0"/>
              <a:t>, vasc) </a:t>
            </a:r>
          </a:p>
          <a:p>
            <a:pPr lvl="0" indent="-228600">
              <a:buSzPct val="257142"/>
              <a:buNone/>
            </a:pPr>
            <a:r>
              <a:rPr lang="en-US" b="1" dirty="0"/>
              <a:t>Preprocessing:</a:t>
            </a:r>
            <a:r>
              <a:rPr lang="en-US" dirty="0"/>
              <a:t> Resize to 224×224, augmentations (flips, rotations, jitter), normalized to ImageNet mean/std.</a:t>
            </a:r>
            <a:endParaRPr lang="en-IN" dirty="0"/>
          </a:p>
          <a:p>
            <a:pPr lvl="1"/>
            <a:r>
              <a:rPr lang="en-IN" dirty="0"/>
              <a:t>Image resizing → e.g., 224×224 or 256×256 pixels (for </a:t>
            </a:r>
            <a:r>
              <a:rPr lang="en-IN" dirty="0" err="1"/>
              <a:t>ResNet</a:t>
            </a:r>
            <a:r>
              <a:rPr lang="en-IN" dirty="0"/>
              <a:t>).</a:t>
            </a:r>
          </a:p>
          <a:p>
            <a:pPr lvl="1"/>
            <a:r>
              <a:rPr lang="en-IN" dirty="0"/>
              <a:t>Normalization → scale pixel values from [0,255] to [0,1] or standardize to mean=0, std=1.</a:t>
            </a:r>
          </a:p>
          <a:p>
            <a:pPr lvl="1"/>
            <a:r>
              <a:rPr lang="en-IN" dirty="0"/>
              <a:t>Label encoding </a:t>
            </a:r>
          </a:p>
          <a:p>
            <a:pPr lvl="1"/>
            <a:r>
              <a:rPr lang="en-IN" dirty="0"/>
              <a:t>Data augmentation</a:t>
            </a:r>
          </a:p>
          <a:p>
            <a:pPr lvl="1"/>
            <a:r>
              <a:rPr lang="en-IN" dirty="0"/>
              <a:t>Class imbalance handling</a:t>
            </a:r>
          </a:p>
          <a:p>
            <a:pPr lvl="0" indent="-228600">
              <a:buSzPct val="257142"/>
              <a:buNone/>
            </a:pPr>
            <a:endParaRPr lang="en-US" dirty="0"/>
          </a:p>
          <a:p>
            <a:pPr lvl="0" indent="-228600">
              <a:buSzPct val="257142"/>
              <a:buNone/>
            </a:pPr>
            <a:endParaRPr lang="en-US" dirty="0"/>
          </a:p>
          <a:p>
            <a:pPr lvl="0" indent="-228600">
              <a:buSzPct val="257142"/>
              <a:buNone/>
            </a:pPr>
            <a:endParaRPr dirty="0"/>
          </a:p>
        </p:txBody>
      </p:sp>
      <p:sp>
        <p:nvSpPr>
          <p:cNvPr id="151" name="Google Shape;151;p20">
            <a:extLst>
              <a:ext uri="{FF2B5EF4-FFF2-40B4-BE49-F238E27FC236}">
                <a16:creationId xmlns:a16="http://schemas.microsoft.com/office/drawing/2014/main" id="{12291391-8B2F-3AC3-6B10-7659F56FE665}"/>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3" name="TextBox 2">
            <a:extLst>
              <a:ext uri="{FF2B5EF4-FFF2-40B4-BE49-F238E27FC236}">
                <a16:creationId xmlns:a16="http://schemas.microsoft.com/office/drawing/2014/main" id="{734E3230-84BF-21CB-1298-EB95D0E1AEEB}"/>
              </a:ext>
            </a:extLst>
          </p:cNvPr>
          <p:cNvSpPr txBox="1"/>
          <p:nvPr/>
        </p:nvSpPr>
        <p:spPr>
          <a:xfrm>
            <a:off x="2959769" y="3214954"/>
            <a:ext cx="6208294" cy="307777"/>
          </a:xfrm>
          <a:prstGeom prst="rect">
            <a:avLst/>
          </a:prstGeom>
          <a:noFill/>
        </p:spPr>
        <p:txBody>
          <a:bodyPr wrap="square">
            <a:spAutoFit/>
          </a:bodyPr>
          <a:lstStyle/>
          <a:p>
            <a:pPr>
              <a:buNone/>
            </a:pPr>
            <a:endParaRPr lang="en-IN" dirty="0"/>
          </a:p>
        </p:txBody>
      </p:sp>
      <p:sp>
        <p:nvSpPr>
          <p:cNvPr id="5" name="Rectangle 2">
            <a:extLst>
              <a:ext uri="{FF2B5EF4-FFF2-40B4-BE49-F238E27FC236}">
                <a16:creationId xmlns:a16="http://schemas.microsoft.com/office/drawing/2014/main" id="{5053881B-ABE8-5A3D-2F34-5D66AB0B912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82439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lvl="0"/>
            <a:r>
              <a:rPr lang="en-US" dirty="0">
                <a:latin typeface="Times New Roman"/>
                <a:ea typeface="Times New Roman"/>
                <a:cs typeface="Times New Roman"/>
                <a:sym typeface="Times New Roman"/>
              </a:rPr>
              <a:t>Methodology</a:t>
            </a:r>
            <a:endParaRPr dirty="0"/>
          </a:p>
        </p:txBody>
      </p:sp>
      <p:sp>
        <p:nvSpPr>
          <p:cNvPr id="157" name="Google Shape;157;p21"/>
          <p:cNvSpPr txBox="1">
            <a:spLocks noGrp="1"/>
          </p:cNvSpPr>
          <p:nvPr>
            <p:ph type="body" idx="1"/>
          </p:nvPr>
        </p:nvSpPr>
        <p:spPr>
          <a:xfrm>
            <a:off x="101600" y="1038782"/>
            <a:ext cx="4411406" cy="522000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IN" sz="2400" b="1" dirty="0">
                <a:solidFill>
                  <a:srgbClr val="002060"/>
                </a:solidFill>
                <a:latin typeface="Times New Roman"/>
                <a:ea typeface="Times New Roman"/>
                <a:cs typeface="Times New Roman"/>
                <a:sym typeface="Times New Roman"/>
              </a:rPr>
              <a:t>Models</a:t>
            </a:r>
            <a:endParaRPr sz="2400" b="1" dirty="0">
              <a:solidFill>
                <a:srgbClr val="002060"/>
              </a:solidFill>
              <a:latin typeface="Arial"/>
              <a:ea typeface="Arial"/>
              <a:cs typeface="Arial"/>
              <a:sym typeface="Arial"/>
            </a:endParaRPr>
          </a:p>
          <a:p>
            <a:pPr marL="742950" indent="-514350">
              <a:buFont typeface="+mj-lt"/>
              <a:buAutoNum type="arabicPeriod"/>
            </a:pPr>
            <a:r>
              <a:rPr lang="en-IN" b="1" dirty="0"/>
              <a:t>Plain CNN </a:t>
            </a:r>
            <a:r>
              <a:rPr lang="en-IN" dirty="0"/>
              <a:t>: four conv blocks (conv-BN-</a:t>
            </a:r>
            <a:r>
              <a:rPr lang="en-IN" dirty="0" err="1"/>
              <a:t>ReLu</a:t>
            </a:r>
            <a:r>
              <a:rPr lang="en-IN" dirty="0"/>
              <a:t>-pool) , dropout , dense layers.</a:t>
            </a:r>
          </a:p>
          <a:p>
            <a:pPr marL="742950" indent="-514350">
              <a:buFont typeface="+mj-lt"/>
              <a:buAutoNum type="arabicPeriod"/>
            </a:pPr>
            <a:r>
              <a:rPr lang="en-IN" b="1" dirty="0"/>
              <a:t>ResNet50</a:t>
            </a:r>
            <a:r>
              <a:rPr lang="en-IN" dirty="0"/>
              <a:t>: Pretrained ImageNet , preplaced final FC layer for 7classes , fine-tuned last 2 layers.</a:t>
            </a:r>
            <a:endParaRPr dirty="0"/>
          </a:p>
        </p:txBody>
      </p:sp>
      <p:sp>
        <p:nvSpPr>
          <p:cNvPr id="158" name="Google Shape;158;p21"/>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3" name="Picture 2">
            <a:extLst>
              <a:ext uri="{FF2B5EF4-FFF2-40B4-BE49-F238E27FC236}">
                <a16:creationId xmlns:a16="http://schemas.microsoft.com/office/drawing/2014/main" id="{2D0B02F6-5431-F5D2-52F8-98000114F8F4}"/>
              </a:ext>
            </a:extLst>
          </p:cNvPr>
          <p:cNvPicPr>
            <a:picLocks noChangeAspect="1"/>
          </p:cNvPicPr>
          <p:nvPr/>
        </p:nvPicPr>
        <p:blipFill>
          <a:blip r:embed="rId3"/>
          <a:stretch>
            <a:fillRect/>
          </a:stretch>
        </p:blipFill>
        <p:spPr>
          <a:xfrm>
            <a:off x="5490095" y="1426691"/>
            <a:ext cx="3683402" cy="48320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436F0C8D-A064-7F13-0D67-5AF38E07DCC3}"/>
            </a:ext>
          </a:extLst>
        </p:cNvPr>
        <p:cNvGrpSpPr/>
        <p:nvPr/>
      </p:nvGrpSpPr>
      <p:grpSpPr>
        <a:xfrm>
          <a:off x="0" y="0"/>
          <a:ext cx="0" cy="0"/>
          <a:chOff x="0" y="0"/>
          <a:chExt cx="0" cy="0"/>
        </a:xfrm>
      </p:grpSpPr>
      <p:sp>
        <p:nvSpPr>
          <p:cNvPr id="156" name="Google Shape;156;p21">
            <a:extLst>
              <a:ext uri="{FF2B5EF4-FFF2-40B4-BE49-F238E27FC236}">
                <a16:creationId xmlns:a16="http://schemas.microsoft.com/office/drawing/2014/main" id="{0554EBC9-630F-1064-E314-6F51AD15B00E}"/>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lvl="0"/>
            <a:r>
              <a:rPr lang="en-US" dirty="0">
                <a:latin typeface="Times New Roman"/>
                <a:ea typeface="Times New Roman"/>
                <a:cs typeface="Times New Roman"/>
                <a:sym typeface="Times New Roman"/>
              </a:rPr>
              <a:t>Methodology</a:t>
            </a:r>
            <a:endParaRPr dirty="0"/>
          </a:p>
        </p:txBody>
      </p:sp>
      <p:sp>
        <p:nvSpPr>
          <p:cNvPr id="157" name="Google Shape;157;p21">
            <a:extLst>
              <a:ext uri="{FF2B5EF4-FFF2-40B4-BE49-F238E27FC236}">
                <a16:creationId xmlns:a16="http://schemas.microsoft.com/office/drawing/2014/main" id="{5219B29C-073A-921D-D24C-65BA09478DCC}"/>
              </a:ext>
            </a:extLst>
          </p:cNvPr>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lvl="0"/>
            <a:r>
              <a:rPr lang="en-IN" sz="2400" b="1" dirty="0">
                <a:solidFill>
                  <a:srgbClr val="002060"/>
                </a:solidFill>
                <a:latin typeface="Times New Roman"/>
                <a:ea typeface="Times New Roman"/>
                <a:cs typeface="Times New Roman"/>
                <a:sym typeface="Times New Roman"/>
              </a:rPr>
              <a:t>Training</a:t>
            </a:r>
          </a:p>
          <a:p>
            <a:pPr marL="742950" indent="-514350">
              <a:buFont typeface="+mj-lt"/>
              <a:buAutoNum type="arabicPeriod"/>
            </a:pPr>
            <a:r>
              <a:rPr lang="en-IN" dirty="0"/>
              <a:t>Hardware: Google Colab T4 GPU</a:t>
            </a:r>
          </a:p>
          <a:p>
            <a:pPr marL="742950" indent="-514350">
              <a:buFont typeface="+mj-lt"/>
              <a:buAutoNum type="arabicPeriod"/>
            </a:pPr>
            <a:r>
              <a:rPr lang="en-IN" dirty="0"/>
              <a:t>Optimizer Adam( lr=1e-3)</a:t>
            </a:r>
          </a:p>
          <a:p>
            <a:pPr marL="742950" indent="-514350">
              <a:buFont typeface="+mj-lt"/>
              <a:buAutoNum type="arabicPeriod"/>
            </a:pPr>
            <a:r>
              <a:rPr lang="en-IN" dirty="0"/>
              <a:t>Loss: </a:t>
            </a:r>
            <a:r>
              <a:rPr lang="en-IN" dirty="0" err="1"/>
              <a:t>Cross-entropy+class</a:t>
            </a:r>
            <a:r>
              <a:rPr lang="en-IN" dirty="0"/>
              <a:t> weights</a:t>
            </a:r>
          </a:p>
          <a:p>
            <a:pPr marL="742950" indent="-514350">
              <a:buFont typeface="+mj-lt"/>
              <a:buAutoNum type="arabicPeriod"/>
            </a:pPr>
            <a:r>
              <a:rPr lang="en-IN" dirty="0"/>
              <a:t>Scheduler: ReduceLROPlateau</a:t>
            </a:r>
          </a:p>
          <a:p>
            <a:pPr marL="742950" indent="-514350">
              <a:buFont typeface="+mj-lt"/>
              <a:buAutoNum type="arabicPeriod"/>
            </a:pPr>
            <a:r>
              <a:rPr lang="en-IN" dirty="0"/>
              <a:t>Epochs: 20 CNN + 20 ResNet50</a:t>
            </a:r>
          </a:p>
          <a:p>
            <a:pPr marL="228600" indent="0">
              <a:buNone/>
            </a:pPr>
            <a:r>
              <a:rPr lang="en-IN" dirty="0"/>
              <a:t> </a:t>
            </a:r>
          </a:p>
        </p:txBody>
      </p:sp>
      <p:sp>
        <p:nvSpPr>
          <p:cNvPr id="158" name="Google Shape;158;p21">
            <a:extLst>
              <a:ext uri="{FF2B5EF4-FFF2-40B4-BE49-F238E27FC236}">
                <a16:creationId xmlns:a16="http://schemas.microsoft.com/office/drawing/2014/main" id="{0E16B25A-6332-C631-EE90-263408F3D42F}"/>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extLst>
      <p:ext uri="{BB962C8B-B14F-4D97-AF65-F5344CB8AC3E}">
        <p14:creationId xmlns:p14="http://schemas.microsoft.com/office/powerpoint/2010/main" val="3108391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70B08691-1D04-97FC-8FFF-B18286521246}"/>
            </a:ext>
          </a:extLst>
        </p:cNvPr>
        <p:cNvGrpSpPr/>
        <p:nvPr/>
      </p:nvGrpSpPr>
      <p:grpSpPr>
        <a:xfrm>
          <a:off x="0" y="0"/>
          <a:ext cx="0" cy="0"/>
          <a:chOff x="0" y="0"/>
          <a:chExt cx="0" cy="0"/>
        </a:xfrm>
      </p:grpSpPr>
      <p:sp>
        <p:nvSpPr>
          <p:cNvPr id="156" name="Google Shape;156;p21">
            <a:extLst>
              <a:ext uri="{FF2B5EF4-FFF2-40B4-BE49-F238E27FC236}">
                <a16:creationId xmlns:a16="http://schemas.microsoft.com/office/drawing/2014/main" id="{CFD3AC81-8301-1965-B0E7-19AAF9B61827}"/>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lvl="0"/>
            <a:r>
              <a:rPr lang="en-US" dirty="0">
                <a:latin typeface="Times New Roman"/>
                <a:ea typeface="Times New Roman"/>
                <a:cs typeface="Times New Roman"/>
                <a:sym typeface="Times New Roman"/>
              </a:rPr>
              <a:t>Methodology</a:t>
            </a:r>
            <a:endParaRPr dirty="0"/>
          </a:p>
        </p:txBody>
      </p:sp>
      <p:sp>
        <p:nvSpPr>
          <p:cNvPr id="157" name="Google Shape;157;p21">
            <a:extLst>
              <a:ext uri="{FF2B5EF4-FFF2-40B4-BE49-F238E27FC236}">
                <a16:creationId xmlns:a16="http://schemas.microsoft.com/office/drawing/2014/main" id="{85B8CA25-F723-5E53-6158-DFCFBF00DEC5}"/>
              </a:ext>
            </a:extLst>
          </p:cNvPr>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lvl="0"/>
            <a:r>
              <a:rPr lang="en-IN" sz="2400" b="1" dirty="0">
                <a:solidFill>
                  <a:srgbClr val="002060"/>
                </a:solidFill>
                <a:latin typeface="Times New Roman"/>
                <a:ea typeface="Times New Roman"/>
                <a:cs typeface="Times New Roman"/>
                <a:sym typeface="Times New Roman"/>
              </a:rPr>
              <a:t>Training</a:t>
            </a:r>
          </a:p>
          <a:p>
            <a:pPr marL="742950" indent="-514350">
              <a:buFont typeface="+mj-lt"/>
              <a:buAutoNum type="arabicPeriod"/>
            </a:pPr>
            <a:r>
              <a:rPr lang="en-IN" dirty="0"/>
              <a:t>Hardware: Google Colab T4 GPU</a:t>
            </a:r>
          </a:p>
          <a:p>
            <a:pPr marL="742950" indent="-514350">
              <a:buFont typeface="+mj-lt"/>
              <a:buAutoNum type="arabicPeriod"/>
            </a:pPr>
            <a:r>
              <a:rPr lang="en-IN" dirty="0"/>
              <a:t>Optimizer Adam( lr=1e-3)</a:t>
            </a:r>
          </a:p>
          <a:p>
            <a:pPr marL="742950" indent="-514350">
              <a:buFont typeface="+mj-lt"/>
              <a:buAutoNum type="arabicPeriod"/>
            </a:pPr>
            <a:r>
              <a:rPr lang="en-IN" dirty="0"/>
              <a:t>Loss: Cross-entropy+class weights</a:t>
            </a:r>
          </a:p>
          <a:p>
            <a:pPr marL="742950" indent="-514350">
              <a:buFont typeface="+mj-lt"/>
              <a:buAutoNum type="arabicPeriod"/>
            </a:pPr>
            <a:r>
              <a:rPr lang="en-IN" dirty="0"/>
              <a:t>Scheduler: ReduceLROPlateau</a:t>
            </a:r>
          </a:p>
          <a:p>
            <a:pPr marL="742950" indent="-514350">
              <a:buFont typeface="+mj-lt"/>
              <a:buAutoNum type="arabicPeriod"/>
            </a:pPr>
            <a:r>
              <a:rPr lang="en-IN" dirty="0"/>
              <a:t>Epochs: 20 CNN + 20 ResNet50</a:t>
            </a:r>
          </a:p>
          <a:p>
            <a:pPr marL="228600" indent="0">
              <a:buNone/>
            </a:pPr>
            <a:r>
              <a:rPr lang="en-IN" dirty="0"/>
              <a:t> </a:t>
            </a:r>
          </a:p>
        </p:txBody>
      </p:sp>
      <p:sp>
        <p:nvSpPr>
          <p:cNvPr id="158" name="Google Shape;158;p21">
            <a:extLst>
              <a:ext uri="{FF2B5EF4-FFF2-40B4-BE49-F238E27FC236}">
                <a16:creationId xmlns:a16="http://schemas.microsoft.com/office/drawing/2014/main" id="{BCBC23C5-D759-A6F3-68D2-46D651AC2CAF}"/>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Tree>
    <p:extLst>
      <p:ext uri="{BB962C8B-B14F-4D97-AF65-F5344CB8AC3E}">
        <p14:creationId xmlns:p14="http://schemas.microsoft.com/office/powerpoint/2010/main" val="992956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dirty="0"/>
              <a:t>Plain CNN</a:t>
            </a:r>
            <a:endParaRPr dirty="0"/>
          </a:p>
        </p:txBody>
      </p:sp>
      <p:sp>
        <p:nvSpPr>
          <p:cNvPr id="172" name="Google Shape;172;p23"/>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9" name="TextBox 8">
            <a:extLst>
              <a:ext uri="{FF2B5EF4-FFF2-40B4-BE49-F238E27FC236}">
                <a16:creationId xmlns:a16="http://schemas.microsoft.com/office/drawing/2014/main" id="{465153EF-8DCB-0272-4263-DB51D76C9187}"/>
              </a:ext>
            </a:extLst>
          </p:cNvPr>
          <p:cNvSpPr txBox="1"/>
          <p:nvPr/>
        </p:nvSpPr>
        <p:spPr>
          <a:xfrm>
            <a:off x="304800" y="1395663"/>
            <a:ext cx="11389895" cy="212365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Convolutional Neural Network (CNN)</a:t>
            </a:r>
            <a:r>
              <a:rPr lang="en-US" sz="2200" dirty="0">
                <a:latin typeface="Times New Roman" panose="02020603050405020304" pitchFamily="18" charset="0"/>
                <a:cs typeface="Times New Roman" panose="02020603050405020304" pitchFamily="18" charset="0"/>
              </a:rPr>
              <a:t> is a deep learning architecture designed for image recognition.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a:t>
            </a:r>
            <a:r>
              <a:rPr lang="en-US" sz="2200" i="1" dirty="0">
                <a:latin typeface="Times New Roman" panose="02020603050405020304" pitchFamily="18" charset="0"/>
                <a:cs typeface="Times New Roman" panose="02020603050405020304" pitchFamily="18" charset="0"/>
              </a:rPr>
              <a:t>plain CNN</a:t>
            </a:r>
            <a:r>
              <a:rPr lang="en-US" sz="2200" dirty="0">
                <a:latin typeface="Times New Roman" panose="02020603050405020304" pitchFamily="18" charset="0"/>
                <a:cs typeface="Times New Roman" panose="02020603050405020304" pitchFamily="18" charset="0"/>
              </a:rPr>
              <a:t> refers to a simple, shallow network (typically 3–4 convolutional layers, pooling, and fully connected layers). It can capture low-level features like edges and textures, but struggles with complex, high-level patterns when the dataset is </a:t>
            </a:r>
            <a:r>
              <a:rPr lang="en-US" sz="2200" b="1" dirty="0">
                <a:latin typeface="Times New Roman" panose="02020603050405020304" pitchFamily="18" charset="0"/>
                <a:cs typeface="Times New Roman" panose="02020603050405020304" pitchFamily="18" charset="0"/>
              </a:rPr>
              <a:t>large, diverse, or imbalanced</a:t>
            </a:r>
            <a:r>
              <a:rPr lang="en-US" sz="2200" dirty="0">
                <a:latin typeface="Times New Roman" panose="02020603050405020304" pitchFamily="18" charset="0"/>
                <a:cs typeface="Times New Roman" panose="02020603050405020304" pitchFamily="18" charset="0"/>
              </a:rPr>
              <a:t> (like HAM10000).</a:t>
            </a:r>
          </a:p>
          <a:p>
            <a:endParaRPr lang="en-IN" sz="2200" dirty="0">
              <a:latin typeface="Times New Roman" panose="02020603050405020304" pitchFamily="18" charset="0"/>
              <a:cs typeface="Times New Roman" panose="02020603050405020304" pitchFamily="18" charset="0"/>
            </a:endParaRPr>
          </a:p>
        </p:txBody>
      </p:sp>
      <p:pic>
        <p:nvPicPr>
          <p:cNvPr id="1026" name="Picture 2" descr="Quick Introduction to Convolutional Neural Networks (CNN) | by Salar |  Artificial Intelligence in Plain English">
            <a:extLst>
              <a:ext uri="{FF2B5EF4-FFF2-40B4-BE49-F238E27FC236}">
                <a16:creationId xmlns:a16="http://schemas.microsoft.com/office/drawing/2014/main" id="{AD12371B-6A09-3F24-4FC2-F8E3E42D5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981" y="3765295"/>
            <a:ext cx="4117342" cy="22028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85CA863F-C0B2-C3E5-5067-997984CA8D6A}"/>
            </a:ext>
          </a:extLst>
        </p:cNvPr>
        <p:cNvGrpSpPr/>
        <p:nvPr/>
      </p:nvGrpSpPr>
      <p:grpSpPr>
        <a:xfrm>
          <a:off x="0" y="0"/>
          <a:ext cx="0" cy="0"/>
          <a:chOff x="0" y="0"/>
          <a:chExt cx="0" cy="0"/>
        </a:xfrm>
      </p:grpSpPr>
      <p:sp>
        <p:nvSpPr>
          <p:cNvPr id="170" name="Google Shape;170;p23">
            <a:extLst>
              <a:ext uri="{FF2B5EF4-FFF2-40B4-BE49-F238E27FC236}">
                <a16:creationId xmlns:a16="http://schemas.microsoft.com/office/drawing/2014/main" id="{E167B3F2-B5BA-A14C-70AC-4316E98322CC}"/>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dirty="0"/>
              <a:t>Plain CNN</a:t>
            </a:r>
            <a:endParaRPr dirty="0"/>
          </a:p>
        </p:txBody>
      </p:sp>
      <p:sp>
        <p:nvSpPr>
          <p:cNvPr id="172" name="Google Shape;172;p23">
            <a:extLst>
              <a:ext uri="{FF2B5EF4-FFF2-40B4-BE49-F238E27FC236}">
                <a16:creationId xmlns:a16="http://schemas.microsoft.com/office/drawing/2014/main" id="{1C62BE57-2AD0-3C22-FC45-C5F80ADCDEE2}"/>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9" name="TextBox 8">
            <a:extLst>
              <a:ext uri="{FF2B5EF4-FFF2-40B4-BE49-F238E27FC236}">
                <a16:creationId xmlns:a16="http://schemas.microsoft.com/office/drawing/2014/main" id="{56D8B0A7-8D8E-8326-36AF-366C968A551F}"/>
              </a:ext>
            </a:extLst>
          </p:cNvPr>
          <p:cNvSpPr txBox="1"/>
          <p:nvPr/>
        </p:nvSpPr>
        <p:spPr>
          <a:xfrm>
            <a:off x="209000" y="648929"/>
            <a:ext cx="11983000" cy="6464384"/>
          </a:xfrm>
          <a:prstGeom prst="rect">
            <a:avLst/>
          </a:prstGeom>
          <a:noFill/>
        </p:spPr>
        <p:txBody>
          <a:bodyPr wrap="square" rtlCol="0">
            <a:spAutoFit/>
          </a:bodyPr>
          <a:lstStyle/>
          <a:p>
            <a:endParaRPr lang="en-US" sz="2200"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Limitations of Plain CNN</a:t>
            </a:r>
          </a:p>
          <a:p>
            <a:pPr marL="34290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Shallow architecture:</a:t>
            </a:r>
            <a:r>
              <a:rPr lang="en-IN" sz="2200" dirty="0">
                <a:latin typeface="Times New Roman" panose="02020603050405020304" pitchFamily="18" charset="0"/>
                <a:cs typeface="Times New Roman" panose="02020603050405020304" pitchFamily="18" charset="0"/>
              </a:rPr>
              <a:t> Cannot capture complex lesion features → limited representation power.</a:t>
            </a:r>
          </a:p>
          <a:p>
            <a:pPr marL="34290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No transfer learning:</a:t>
            </a:r>
            <a:r>
              <a:rPr lang="en-IN" sz="2200" dirty="0">
                <a:latin typeface="Times New Roman" panose="02020603050405020304" pitchFamily="18" charset="0"/>
                <a:cs typeface="Times New Roman" panose="02020603050405020304" pitchFamily="18" charset="0"/>
              </a:rPr>
              <a:t> Trained from scratch → poor performance on small datasets.</a:t>
            </a:r>
          </a:p>
          <a:p>
            <a:pPr marL="34290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Overfitting risk:</a:t>
            </a:r>
            <a:r>
              <a:rPr lang="en-IN" sz="2200" dirty="0">
                <a:latin typeface="Times New Roman" panose="02020603050405020304" pitchFamily="18" charset="0"/>
                <a:cs typeface="Times New Roman" panose="02020603050405020304" pitchFamily="18" charset="0"/>
              </a:rPr>
              <a:t> Learns majority class (</a:t>
            </a:r>
            <a:r>
              <a:rPr lang="en-IN" sz="2200" i="1" dirty="0">
                <a:latin typeface="Times New Roman" panose="02020603050405020304" pitchFamily="18" charset="0"/>
                <a:cs typeface="Times New Roman" panose="02020603050405020304" pitchFamily="18" charset="0"/>
              </a:rPr>
              <a:t>nevus</a:t>
            </a:r>
            <a:r>
              <a:rPr lang="en-IN" sz="2200" dirty="0">
                <a:latin typeface="Times New Roman" panose="02020603050405020304" pitchFamily="18" charset="0"/>
                <a:cs typeface="Times New Roman" panose="02020603050405020304" pitchFamily="18" charset="0"/>
              </a:rPr>
              <a:t>) but misclassifies rare classes (melanoma, </a:t>
            </a:r>
            <a:r>
              <a:rPr lang="en-IN" sz="2200" dirty="0" err="1">
                <a:latin typeface="Times New Roman" panose="02020603050405020304" pitchFamily="18" charset="0"/>
                <a:cs typeface="Times New Roman" panose="02020603050405020304" pitchFamily="18" charset="0"/>
              </a:rPr>
              <a:t>df</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vasc</a:t>
            </a:r>
            <a:r>
              <a:rPr lang="en-IN" sz="22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Performance gap:</a:t>
            </a:r>
            <a:r>
              <a:rPr lang="en-IN" sz="2200" dirty="0">
                <a:latin typeface="Times New Roman" panose="02020603050405020304" pitchFamily="18" charset="0"/>
                <a:cs typeface="Times New Roman" panose="02020603050405020304" pitchFamily="18" charset="0"/>
              </a:rPr>
              <a:t> Achieved only </a:t>
            </a:r>
            <a:r>
              <a:rPr lang="en-IN" sz="2200" b="1" dirty="0">
                <a:latin typeface="Times New Roman" panose="02020603050405020304" pitchFamily="18" charset="0"/>
                <a:cs typeface="Times New Roman" panose="02020603050405020304" pitchFamily="18" charset="0"/>
              </a:rPr>
              <a:t>62.6% accuracy</a:t>
            </a:r>
            <a:r>
              <a:rPr lang="en-IN" sz="2200" dirty="0">
                <a:latin typeface="Times New Roman" panose="02020603050405020304" pitchFamily="18" charset="0"/>
                <a:cs typeface="Times New Roman" panose="02020603050405020304" pitchFamily="18" charset="0"/>
              </a:rPr>
              <a:t> and macro-F1 </a:t>
            </a:r>
            <a:r>
              <a:rPr lang="en-IN" sz="2200" b="1" dirty="0">
                <a:latin typeface="Times New Roman" panose="02020603050405020304" pitchFamily="18" charset="0"/>
                <a:cs typeface="Times New Roman" panose="02020603050405020304" pitchFamily="18" charset="0"/>
              </a:rPr>
              <a:t>0.43</a:t>
            </a:r>
            <a:r>
              <a:rPr lang="en-IN" sz="2200" dirty="0">
                <a:latin typeface="Times New Roman" panose="02020603050405020304" pitchFamily="18" charset="0"/>
                <a:cs typeface="Times New Roman" panose="02020603050405020304" pitchFamily="18" charset="0"/>
              </a:rPr>
              <a:t> on HAM10000.</a:t>
            </a:r>
          </a:p>
          <a:p>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How ResNet50 Enhances It</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Deeper &amp; richer feature extraction:</a:t>
            </a:r>
            <a:r>
              <a:rPr lang="en-US" sz="2200" dirty="0">
                <a:latin typeface="Times New Roman" panose="02020603050405020304" pitchFamily="18" charset="0"/>
                <a:cs typeface="Times New Roman" panose="02020603050405020304" pitchFamily="18" charset="0"/>
              </a:rPr>
              <a:t> 50 layers + residual blocks capture hierarchical lesion features.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Transfer learning advantage:</a:t>
            </a:r>
            <a:r>
              <a:rPr lang="en-US" sz="2200" dirty="0">
                <a:latin typeface="Times New Roman" panose="02020603050405020304" pitchFamily="18" charset="0"/>
                <a:cs typeface="Times New Roman" panose="02020603050405020304" pitchFamily="18" charset="0"/>
              </a:rPr>
              <a:t> Pretrained on ImageNet → brings general vision knowledge, fine-tuned for medical images.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Improved generalization:</a:t>
            </a:r>
            <a:r>
              <a:rPr lang="en-US" sz="2200" dirty="0">
                <a:latin typeface="Times New Roman" panose="02020603050405020304" pitchFamily="18" charset="0"/>
                <a:cs typeface="Times New Roman" panose="02020603050405020304" pitchFamily="18" charset="0"/>
              </a:rPr>
              <a:t> Handles </a:t>
            </a:r>
            <a:r>
              <a:rPr lang="en-US" sz="2200" b="1" dirty="0">
                <a:latin typeface="Times New Roman" panose="02020603050405020304" pitchFamily="18" charset="0"/>
                <a:cs typeface="Times New Roman" panose="02020603050405020304" pitchFamily="18" charset="0"/>
              </a:rPr>
              <a:t>imbalanced HAM10000</a:t>
            </a:r>
            <a:r>
              <a:rPr lang="en-US" sz="2200" dirty="0">
                <a:latin typeface="Times New Roman" panose="02020603050405020304" pitchFamily="18" charset="0"/>
                <a:cs typeface="Times New Roman" panose="02020603050405020304" pitchFamily="18" charset="0"/>
              </a:rPr>
              <a:t> much better, with accuracy boosted to </a:t>
            </a:r>
            <a:r>
              <a:rPr lang="en-US" sz="2200" b="1" dirty="0">
                <a:latin typeface="Times New Roman" panose="02020603050405020304" pitchFamily="18" charset="0"/>
                <a:cs typeface="Times New Roman" panose="02020603050405020304" pitchFamily="18" charset="0"/>
              </a:rPr>
              <a:t>86.8%</a:t>
            </a:r>
            <a:r>
              <a:rPr lang="en-US" sz="2200" dirty="0">
                <a:latin typeface="Times New Roman" panose="02020603050405020304" pitchFamily="18" charset="0"/>
                <a:cs typeface="Times New Roman" panose="02020603050405020304" pitchFamily="18" charset="0"/>
              </a:rPr>
              <a:t> and macro-F1 </a:t>
            </a:r>
            <a:r>
              <a:rPr lang="en-US" sz="2200" b="1" dirty="0">
                <a:latin typeface="Times New Roman" panose="02020603050405020304" pitchFamily="18" charset="0"/>
                <a:cs typeface="Times New Roman" panose="02020603050405020304" pitchFamily="18" charset="0"/>
              </a:rPr>
              <a:t>0.80</a:t>
            </a:r>
            <a:r>
              <a:rPr lang="en-US" sz="22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Explainability ready:</a:t>
            </a:r>
            <a:r>
              <a:rPr lang="en-US" sz="2200" dirty="0">
                <a:latin typeface="Times New Roman" panose="02020603050405020304" pitchFamily="18" charset="0"/>
                <a:cs typeface="Times New Roman" panose="02020603050405020304" pitchFamily="18" charset="0"/>
              </a:rPr>
              <a:t> When combined with </a:t>
            </a:r>
            <a:r>
              <a:rPr lang="en-US" sz="2200" b="1" dirty="0">
                <a:latin typeface="Times New Roman" panose="02020603050405020304" pitchFamily="18" charset="0"/>
                <a:cs typeface="Times New Roman" panose="02020603050405020304" pitchFamily="18" charset="0"/>
              </a:rPr>
              <a:t>Grad-CAM</a:t>
            </a:r>
            <a:r>
              <a:rPr lang="en-US" sz="2200" dirty="0">
                <a:latin typeface="Times New Roman" panose="02020603050405020304" pitchFamily="18" charset="0"/>
                <a:cs typeface="Times New Roman" panose="02020603050405020304" pitchFamily="18" charset="0"/>
              </a:rPr>
              <a:t>, ResNet50 not only classifies better but also highlights lesion regions, adding trust for dermatologists.</a:t>
            </a:r>
          </a:p>
          <a:p>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510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4BE80EA1-F7D5-246E-78FF-AC65A370EB13}"/>
            </a:ext>
          </a:extLst>
        </p:cNvPr>
        <p:cNvGrpSpPr/>
        <p:nvPr/>
      </p:nvGrpSpPr>
      <p:grpSpPr>
        <a:xfrm>
          <a:off x="0" y="0"/>
          <a:ext cx="0" cy="0"/>
          <a:chOff x="0" y="0"/>
          <a:chExt cx="0" cy="0"/>
        </a:xfrm>
      </p:grpSpPr>
      <p:sp>
        <p:nvSpPr>
          <p:cNvPr id="170" name="Google Shape;170;p23">
            <a:extLst>
              <a:ext uri="{FF2B5EF4-FFF2-40B4-BE49-F238E27FC236}">
                <a16:creationId xmlns:a16="http://schemas.microsoft.com/office/drawing/2014/main" id="{C58CF02D-B77D-FBB4-8976-98203D976F91}"/>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dirty="0"/>
              <a:t>Plain CNN</a:t>
            </a:r>
            <a:endParaRPr dirty="0"/>
          </a:p>
        </p:txBody>
      </p:sp>
      <p:sp>
        <p:nvSpPr>
          <p:cNvPr id="172" name="Google Shape;172;p23">
            <a:extLst>
              <a:ext uri="{FF2B5EF4-FFF2-40B4-BE49-F238E27FC236}">
                <a16:creationId xmlns:a16="http://schemas.microsoft.com/office/drawing/2014/main" id="{FAF64FD1-60E3-4442-5F49-D142E94EFE2F}"/>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9" name="TextBox 8">
            <a:extLst>
              <a:ext uri="{FF2B5EF4-FFF2-40B4-BE49-F238E27FC236}">
                <a16:creationId xmlns:a16="http://schemas.microsoft.com/office/drawing/2014/main" id="{5F0C2360-9629-E972-16C0-2876B3B1CB6F}"/>
              </a:ext>
            </a:extLst>
          </p:cNvPr>
          <p:cNvSpPr txBox="1"/>
          <p:nvPr/>
        </p:nvSpPr>
        <p:spPr>
          <a:xfrm>
            <a:off x="209000" y="648929"/>
            <a:ext cx="11983000" cy="1508105"/>
          </a:xfrm>
          <a:prstGeom prst="rect">
            <a:avLst/>
          </a:prstGeom>
          <a:noFill/>
        </p:spPr>
        <p:txBody>
          <a:bodyPr wrap="square" rtlCol="0">
            <a:spAutoFit/>
          </a:bodyPr>
          <a:lstStyle/>
          <a:p>
            <a:endParaRPr lang="en-IN" sz="22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How ResNet50 Enhances It</a:t>
            </a:r>
          </a:p>
          <a:p>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5BBEDBF-469E-1658-FC54-AA0D63B58028}"/>
              </a:ext>
            </a:extLst>
          </p:cNvPr>
          <p:cNvPicPr>
            <a:picLocks noChangeAspect="1"/>
          </p:cNvPicPr>
          <p:nvPr/>
        </p:nvPicPr>
        <p:blipFill>
          <a:blip r:embed="rId3"/>
          <a:stretch>
            <a:fillRect/>
          </a:stretch>
        </p:blipFill>
        <p:spPr>
          <a:xfrm>
            <a:off x="1421974" y="1948798"/>
            <a:ext cx="8424998" cy="3458944"/>
          </a:xfrm>
          <a:prstGeom prst="rect">
            <a:avLst/>
          </a:prstGeom>
        </p:spPr>
      </p:pic>
    </p:spTree>
    <p:extLst>
      <p:ext uri="{BB962C8B-B14F-4D97-AF65-F5344CB8AC3E}">
        <p14:creationId xmlns:p14="http://schemas.microsoft.com/office/powerpoint/2010/main" val="2645675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2"/>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IN" dirty="0"/>
              <a:t>ResNet50</a:t>
            </a:r>
            <a:endParaRPr dirty="0"/>
          </a:p>
        </p:txBody>
      </p:sp>
      <p:sp>
        <p:nvSpPr>
          <p:cNvPr id="164" name="Google Shape;164;p22"/>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fontScale="77500" lnSpcReduction="20000"/>
          </a:bodyPr>
          <a:lstStyle/>
          <a:p>
            <a:pPr marR="431800" indent="-457200" algn="just">
              <a:lnSpc>
                <a:spcPct val="150000"/>
              </a:lnSpc>
              <a:buSzPct val="82949"/>
            </a:pPr>
            <a:r>
              <a:rPr lang="en-US" sz="3100" b="1" dirty="0">
                <a:latin typeface="Times New Roman"/>
                <a:ea typeface="Times New Roman"/>
                <a:cs typeface="Times New Roman"/>
                <a:sym typeface="Times New Roman"/>
              </a:rPr>
              <a:t>RESNET-50</a:t>
            </a:r>
            <a:r>
              <a:rPr lang="en-US" sz="3100" dirty="0">
                <a:latin typeface="Times New Roman"/>
                <a:ea typeface="Times New Roman"/>
                <a:cs typeface="Times New Roman"/>
                <a:sym typeface="Times New Roman"/>
              </a:rPr>
              <a:t> is a </a:t>
            </a:r>
            <a:r>
              <a:rPr lang="en-US" sz="3100" b="1" dirty="0">
                <a:latin typeface="Times New Roman"/>
                <a:ea typeface="Times New Roman"/>
                <a:cs typeface="Times New Roman"/>
                <a:sym typeface="Times New Roman"/>
              </a:rPr>
              <a:t>50-layer</a:t>
            </a:r>
            <a:r>
              <a:rPr lang="en-US" sz="3100" dirty="0">
                <a:latin typeface="Times New Roman"/>
                <a:ea typeface="Times New Roman"/>
                <a:cs typeface="Times New Roman"/>
                <a:sym typeface="Times New Roman"/>
              </a:rPr>
              <a:t> convolutional neural network (48 convolutional layers, one MaxPool layer, and one average pool layer). </a:t>
            </a:r>
            <a:endParaRPr dirty="0"/>
          </a:p>
          <a:p>
            <a:pPr marL="342900" marR="431800" lvl="0" indent="-342900" algn="just" rtl="0">
              <a:lnSpc>
                <a:spcPct val="150000"/>
              </a:lnSpc>
              <a:spcBef>
                <a:spcPts val="1000"/>
              </a:spcBef>
              <a:spcAft>
                <a:spcPts val="0"/>
              </a:spcAft>
              <a:buSzPct val="82949"/>
              <a:buFont typeface="Arial"/>
              <a:buChar char="•"/>
            </a:pPr>
            <a:r>
              <a:rPr lang="en-US" sz="3100" dirty="0">
                <a:latin typeface="Times New Roman"/>
                <a:ea typeface="Times New Roman"/>
                <a:cs typeface="Times New Roman"/>
                <a:sym typeface="Times New Roman"/>
              </a:rPr>
              <a:t>The RESNET-50 architecture is specifically designed to </a:t>
            </a:r>
            <a:r>
              <a:rPr lang="en-US" sz="3100" b="1" dirty="0">
                <a:latin typeface="Times New Roman"/>
                <a:ea typeface="Times New Roman"/>
                <a:cs typeface="Times New Roman"/>
                <a:sym typeface="Times New Roman"/>
              </a:rPr>
              <a:t>increase the depth</a:t>
            </a:r>
            <a:r>
              <a:rPr lang="en-US" sz="3100" dirty="0">
                <a:latin typeface="Times New Roman"/>
                <a:ea typeface="Times New Roman"/>
                <a:cs typeface="Times New Roman"/>
                <a:sym typeface="Times New Roman"/>
              </a:rPr>
              <a:t> of the neural network while </a:t>
            </a:r>
            <a:r>
              <a:rPr lang="en-US" sz="3100" b="1" dirty="0">
                <a:latin typeface="Times New Roman"/>
                <a:ea typeface="Times New Roman"/>
                <a:cs typeface="Times New Roman"/>
                <a:sym typeface="Times New Roman"/>
              </a:rPr>
              <a:t>reducing the risk of vanishing gradients and overfitting</a:t>
            </a:r>
            <a:r>
              <a:rPr lang="en-US" sz="3100" dirty="0">
                <a:latin typeface="Times New Roman"/>
                <a:ea typeface="Times New Roman"/>
                <a:cs typeface="Times New Roman"/>
                <a:sym typeface="Times New Roman"/>
              </a:rPr>
              <a:t>. </a:t>
            </a:r>
            <a:endParaRPr dirty="0"/>
          </a:p>
          <a:p>
            <a:pPr marL="342900" marR="431800" lvl="0" indent="-342900" algn="just" rtl="0">
              <a:lnSpc>
                <a:spcPct val="150000"/>
              </a:lnSpc>
              <a:spcBef>
                <a:spcPts val="1000"/>
              </a:spcBef>
              <a:spcAft>
                <a:spcPts val="0"/>
              </a:spcAft>
              <a:buSzPct val="82949"/>
              <a:buFont typeface="Arial"/>
              <a:buChar char="•"/>
            </a:pPr>
            <a:r>
              <a:rPr lang="en-US" sz="3100" dirty="0">
                <a:latin typeface="Times New Roman"/>
                <a:ea typeface="Times New Roman"/>
                <a:cs typeface="Times New Roman"/>
                <a:sym typeface="Times New Roman"/>
              </a:rPr>
              <a:t>The </a:t>
            </a:r>
            <a:r>
              <a:rPr lang="en-US" sz="3100" b="1" dirty="0">
                <a:latin typeface="Times New Roman"/>
                <a:ea typeface="Times New Roman"/>
                <a:cs typeface="Times New Roman"/>
                <a:sym typeface="Times New Roman"/>
              </a:rPr>
              <a:t>residual blocks </a:t>
            </a:r>
            <a:r>
              <a:rPr lang="en-US" sz="3100" dirty="0">
                <a:latin typeface="Times New Roman"/>
                <a:ea typeface="Times New Roman"/>
                <a:cs typeface="Times New Roman"/>
                <a:sym typeface="Times New Roman"/>
              </a:rPr>
              <a:t>in the network help to ensure that the output of the previous layer is added to the current layer's output, which allows the network to better retain information from earlier in the network. </a:t>
            </a:r>
            <a:endParaRPr dirty="0"/>
          </a:p>
          <a:p>
            <a:pPr marL="342900" marR="431800" lvl="0" indent="-342900" algn="just" rtl="0">
              <a:lnSpc>
                <a:spcPct val="150000"/>
              </a:lnSpc>
              <a:spcBef>
                <a:spcPts val="1000"/>
              </a:spcBef>
              <a:spcAft>
                <a:spcPts val="0"/>
              </a:spcAft>
              <a:buSzPct val="82949"/>
              <a:buFont typeface="Arial"/>
              <a:buChar char="•"/>
            </a:pPr>
            <a:r>
              <a:rPr lang="en-US" sz="3100" dirty="0">
                <a:latin typeface="Times New Roman"/>
                <a:ea typeface="Times New Roman"/>
                <a:cs typeface="Times New Roman"/>
                <a:sym typeface="Times New Roman"/>
              </a:rPr>
              <a:t>This results in the RESNET-50 architecture outperforming traditional deep neural networks, making it a popular choice for computer vision and image classification tasks</a:t>
            </a:r>
            <a:r>
              <a:rPr lang="en-US" sz="2800" dirty="0">
                <a:latin typeface="Times New Roman"/>
                <a:ea typeface="Times New Roman"/>
                <a:cs typeface="Times New Roman"/>
                <a:sym typeface="Times New Roman"/>
              </a:rPr>
              <a:t>.</a:t>
            </a:r>
            <a:endParaRPr sz="2800" dirty="0">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ct val="91836"/>
              <a:buNone/>
            </a:pPr>
            <a:endParaRPr dirty="0"/>
          </a:p>
        </p:txBody>
      </p:sp>
      <p:sp>
        <p:nvSpPr>
          <p:cNvPr id="165" name="Google Shape;165;p22"/>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4"/>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Results</a:t>
            </a:r>
            <a:endParaRPr sz="2400">
              <a:latin typeface="Times New Roman"/>
              <a:ea typeface="Times New Roman"/>
              <a:cs typeface="Times New Roman"/>
              <a:sym typeface="Times New Roman"/>
            </a:endParaRPr>
          </a:p>
        </p:txBody>
      </p:sp>
      <p:sp>
        <p:nvSpPr>
          <p:cNvPr id="179" name="Google Shape;179;p24"/>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marL="571500" lvl="0" indent="-457200" algn="l" rtl="0">
              <a:lnSpc>
                <a:spcPct val="90000"/>
              </a:lnSpc>
              <a:spcBef>
                <a:spcPts val="1000"/>
              </a:spcBef>
              <a:spcAft>
                <a:spcPts val="0"/>
              </a:spcAft>
              <a:buSzPts val="1800"/>
              <a:buFont typeface="Arial"/>
              <a:buAutoNum type="arabicPeriod"/>
            </a:pPr>
            <a:r>
              <a:rPr lang="en-US" sz="2400" dirty="0"/>
              <a:t>Plain CNN:</a:t>
            </a:r>
            <a:endParaRPr dirty="0"/>
          </a:p>
        </p:txBody>
      </p:sp>
      <p:sp>
        <p:nvSpPr>
          <p:cNvPr id="180" name="Google Shape;180;p24"/>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3" name="Picture 2">
            <a:extLst>
              <a:ext uri="{FF2B5EF4-FFF2-40B4-BE49-F238E27FC236}">
                <a16:creationId xmlns:a16="http://schemas.microsoft.com/office/drawing/2014/main" id="{B07EAFC7-67C1-D4D2-5842-3A03E49FF90D}"/>
              </a:ext>
            </a:extLst>
          </p:cNvPr>
          <p:cNvPicPr>
            <a:picLocks noChangeAspect="1"/>
          </p:cNvPicPr>
          <p:nvPr/>
        </p:nvPicPr>
        <p:blipFill>
          <a:blip r:embed="rId3"/>
          <a:stretch>
            <a:fillRect/>
          </a:stretch>
        </p:blipFill>
        <p:spPr>
          <a:xfrm>
            <a:off x="739635" y="2073018"/>
            <a:ext cx="4570302" cy="4185764"/>
          </a:xfrm>
          <a:prstGeom prst="rect">
            <a:avLst/>
          </a:prstGeom>
        </p:spPr>
      </p:pic>
      <p:pic>
        <p:nvPicPr>
          <p:cNvPr id="5" name="Picture 4">
            <a:extLst>
              <a:ext uri="{FF2B5EF4-FFF2-40B4-BE49-F238E27FC236}">
                <a16:creationId xmlns:a16="http://schemas.microsoft.com/office/drawing/2014/main" id="{A591D390-3AA2-D230-233A-5D1C131A1C8A}"/>
              </a:ext>
            </a:extLst>
          </p:cNvPr>
          <p:cNvPicPr>
            <a:picLocks noChangeAspect="1"/>
          </p:cNvPicPr>
          <p:nvPr/>
        </p:nvPicPr>
        <p:blipFill>
          <a:blip r:embed="rId4"/>
          <a:stretch>
            <a:fillRect/>
          </a:stretch>
        </p:blipFill>
        <p:spPr>
          <a:xfrm>
            <a:off x="5899846" y="2073018"/>
            <a:ext cx="5024828" cy="42675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ACF3D57A-8C17-3B38-5A06-0838E1798740}"/>
            </a:ext>
          </a:extLst>
        </p:cNvPr>
        <p:cNvGrpSpPr/>
        <p:nvPr/>
      </p:nvGrpSpPr>
      <p:grpSpPr>
        <a:xfrm>
          <a:off x="0" y="0"/>
          <a:ext cx="0" cy="0"/>
          <a:chOff x="0" y="0"/>
          <a:chExt cx="0" cy="0"/>
        </a:xfrm>
      </p:grpSpPr>
      <p:sp>
        <p:nvSpPr>
          <p:cNvPr id="178" name="Google Shape;178;p24">
            <a:extLst>
              <a:ext uri="{FF2B5EF4-FFF2-40B4-BE49-F238E27FC236}">
                <a16:creationId xmlns:a16="http://schemas.microsoft.com/office/drawing/2014/main" id="{587FF24B-7114-339F-2AC6-D4D9B9782CF7}"/>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Results</a:t>
            </a:r>
            <a:endParaRPr sz="2400">
              <a:latin typeface="Times New Roman"/>
              <a:ea typeface="Times New Roman"/>
              <a:cs typeface="Times New Roman"/>
              <a:sym typeface="Times New Roman"/>
            </a:endParaRPr>
          </a:p>
        </p:txBody>
      </p:sp>
      <p:sp>
        <p:nvSpPr>
          <p:cNvPr id="179" name="Google Shape;179;p24">
            <a:extLst>
              <a:ext uri="{FF2B5EF4-FFF2-40B4-BE49-F238E27FC236}">
                <a16:creationId xmlns:a16="http://schemas.microsoft.com/office/drawing/2014/main" id="{9CAF0EC6-40FD-7E82-B345-07884A226EF7}"/>
              </a:ext>
            </a:extLst>
          </p:cNvPr>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dirty="0"/>
              <a:t>2.  ResNet50:</a:t>
            </a:r>
            <a:endParaRPr dirty="0"/>
          </a:p>
        </p:txBody>
      </p:sp>
      <p:sp>
        <p:nvSpPr>
          <p:cNvPr id="180" name="Google Shape;180;p24">
            <a:extLst>
              <a:ext uri="{FF2B5EF4-FFF2-40B4-BE49-F238E27FC236}">
                <a16:creationId xmlns:a16="http://schemas.microsoft.com/office/drawing/2014/main" id="{EBD4B074-DB04-38B0-A9ED-B6FF9885CBC6}"/>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4" name="Picture 3">
            <a:extLst>
              <a:ext uri="{FF2B5EF4-FFF2-40B4-BE49-F238E27FC236}">
                <a16:creationId xmlns:a16="http://schemas.microsoft.com/office/drawing/2014/main" id="{3181EEED-B308-51FB-83B6-E2B3A37686C8}"/>
              </a:ext>
            </a:extLst>
          </p:cNvPr>
          <p:cNvPicPr>
            <a:picLocks noChangeAspect="1"/>
          </p:cNvPicPr>
          <p:nvPr/>
        </p:nvPicPr>
        <p:blipFill>
          <a:blip r:embed="rId3"/>
          <a:stretch>
            <a:fillRect/>
          </a:stretch>
        </p:blipFill>
        <p:spPr>
          <a:xfrm>
            <a:off x="820867" y="1955546"/>
            <a:ext cx="5002417" cy="4435680"/>
          </a:xfrm>
          <a:prstGeom prst="rect">
            <a:avLst/>
          </a:prstGeom>
        </p:spPr>
      </p:pic>
      <p:pic>
        <p:nvPicPr>
          <p:cNvPr id="6" name="Picture 5">
            <a:extLst>
              <a:ext uri="{FF2B5EF4-FFF2-40B4-BE49-F238E27FC236}">
                <a16:creationId xmlns:a16="http://schemas.microsoft.com/office/drawing/2014/main" id="{EAE5C7CB-BFB6-549C-971B-591E9FC1AD87}"/>
              </a:ext>
            </a:extLst>
          </p:cNvPr>
          <p:cNvPicPr>
            <a:picLocks noChangeAspect="1"/>
          </p:cNvPicPr>
          <p:nvPr/>
        </p:nvPicPr>
        <p:blipFill>
          <a:blip r:embed="rId4"/>
          <a:stretch>
            <a:fillRect/>
          </a:stretch>
        </p:blipFill>
        <p:spPr>
          <a:xfrm>
            <a:off x="6090919" y="1955545"/>
            <a:ext cx="5076427" cy="4492577"/>
          </a:xfrm>
          <a:prstGeom prst="rect">
            <a:avLst/>
          </a:prstGeom>
        </p:spPr>
      </p:pic>
    </p:spTree>
    <p:extLst>
      <p:ext uri="{BB962C8B-B14F-4D97-AF65-F5344CB8AC3E}">
        <p14:creationId xmlns:p14="http://schemas.microsoft.com/office/powerpoint/2010/main" val="3697471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5"/>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endParaRPr/>
          </a:p>
        </p:txBody>
      </p:sp>
      <p:sp>
        <p:nvSpPr>
          <p:cNvPr id="189" name="Google Shape;189;p25"/>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sz="2400" dirty="0">
                <a:latin typeface="Times New Roman"/>
                <a:ea typeface="Times New Roman"/>
                <a:cs typeface="Times New Roman"/>
                <a:sym typeface="Times New Roman"/>
              </a:rPr>
              <a:t>2.  </a:t>
            </a:r>
            <a:r>
              <a:rPr lang="en-US" sz="2400" dirty="0" err="1">
                <a:latin typeface="Times New Roman"/>
                <a:ea typeface="Times New Roman"/>
                <a:cs typeface="Times New Roman"/>
                <a:sym typeface="Times New Roman"/>
              </a:rPr>
              <a:t>Comparision</a:t>
            </a:r>
            <a:r>
              <a:rPr lang="en-US" sz="2400" dirty="0">
                <a:latin typeface="Times New Roman"/>
                <a:ea typeface="Times New Roman"/>
                <a:cs typeface="Times New Roman"/>
                <a:sym typeface="Times New Roman"/>
              </a:rPr>
              <a:t> :</a:t>
            </a:r>
            <a:endParaRPr dirty="0"/>
          </a:p>
          <a:p>
            <a:pPr marL="114300" lvl="0" indent="0" algn="l" rtl="0">
              <a:lnSpc>
                <a:spcPct val="90000"/>
              </a:lnSpc>
              <a:spcBef>
                <a:spcPts val="1000"/>
              </a:spcBef>
              <a:spcAft>
                <a:spcPts val="0"/>
              </a:spcAft>
              <a:buSzPts val="1800"/>
              <a:buNone/>
            </a:pPr>
            <a:endParaRPr dirty="0"/>
          </a:p>
        </p:txBody>
      </p:sp>
      <p:sp>
        <p:nvSpPr>
          <p:cNvPr id="190" name="Google Shape;190;p25"/>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3" name="Picture 2">
            <a:extLst>
              <a:ext uri="{FF2B5EF4-FFF2-40B4-BE49-F238E27FC236}">
                <a16:creationId xmlns:a16="http://schemas.microsoft.com/office/drawing/2014/main" id="{FA006F06-C1AC-A164-567B-F0517C6D1E69}"/>
              </a:ext>
            </a:extLst>
          </p:cNvPr>
          <p:cNvPicPr>
            <a:picLocks noChangeAspect="1"/>
          </p:cNvPicPr>
          <p:nvPr/>
        </p:nvPicPr>
        <p:blipFill>
          <a:blip r:embed="rId3"/>
          <a:stretch>
            <a:fillRect/>
          </a:stretch>
        </p:blipFill>
        <p:spPr>
          <a:xfrm>
            <a:off x="2308998" y="1887170"/>
            <a:ext cx="6066046" cy="42066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6"/>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endParaRPr/>
          </a:p>
        </p:txBody>
      </p:sp>
      <p:sp>
        <p:nvSpPr>
          <p:cNvPr id="200" name="Google Shape;200;p26"/>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marL="114300" lvl="0" indent="0" algn="ctr" rtl="0">
              <a:lnSpc>
                <a:spcPct val="90000"/>
              </a:lnSpc>
              <a:spcBef>
                <a:spcPts val="1000"/>
              </a:spcBef>
              <a:spcAft>
                <a:spcPts val="0"/>
              </a:spcAft>
              <a:buSzPts val="1800"/>
              <a:buNone/>
            </a:pPr>
            <a:r>
              <a:rPr lang="en-US" sz="2400">
                <a:latin typeface="Times New Roman"/>
                <a:ea typeface="Times New Roman"/>
                <a:cs typeface="Times New Roman"/>
                <a:sym typeface="Times New Roman"/>
              </a:rPr>
              <a:t>TABLE III:  PERFORMANCE ANALYSIS FOR FRUIT RIPENESS DETECTION USING VGG19, RESNET50 AND INCEPTIONV3 </a:t>
            </a:r>
            <a:endParaRPr sz="2400">
              <a:latin typeface="Times New Roman"/>
              <a:ea typeface="Times New Roman"/>
              <a:cs typeface="Times New Roman"/>
              <a:sym typeface="Times New Roman"/>
            </a:endParaRPr>
          </a:p>
        </p:txBody>
      </p:sp>
      <p:sp>
        <p:nvSpPr>
          <p:cNvPr id="201" name="Google Shape;201;p26"/>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graphicFrame>
        <p:nvGraphicFramePr>
          <p:cNvPr id="202" name="Google Shape;202;p26"/>
          <p:cNvGraphicFramePr/>
          <p:nvPr>
            <p:extLst>
              <p:ext uri="{D42A27DB-BD31-4B8C-83A1-F6EECF244321}">
                <p14:modId xmlns:p14="http://schemas.microsoft.com/office/powerpoint/2010/main" val="3950894214"/>
              </p:ext>
            </p:extLst>
          </p:nvPr>
        </p:nvGraphicFramePr>
        <p:xfrm>
          <a:off x="179136" y="2222169"/>
          <a:ext cx="11823575" cy="3082975"/>
        </p:xfrm>
        <a:graphic>
          <a:graphicData uri="http://schemas.openxmlformats.org/drawingml/2006/table">
            <a:tbl>
              <a:tblPr firstRow="1" bandRow="1">
                <a:noFill/>
                <a:tableStyleId>{00D05278-5E4C-4E56-BAF3-980960587669}</a:tableStyleId>
              </a:tblPr>
              <a:tblGrid>
                <a:gridCol w="2671850">
                  <a:extLst>
                    <a:ext uri="{9D8B030D-6E8A-4147-A177-3AD203B41FA5}">
                      <a16:colId xmlns:a16="http://schemas.microsoft.com/office/drawing/2014/main" val="20000"/>
                    </a:ext>
                  </a:extLst>
                </a:gridCol>
                <a:gridCol w="1549400">
                  <a:extLst>
                    <a:ext uri="{9D8B030D-6E8A-4147-A177-3AD203B41FA5}">
                      <a16:colId xmlns:a16="http://schemas.microsoft.com/office/drawing/2014/main" val="20001"/>
                    </a:ext>
                  </a:extLst>
                </a:gridCol>
                <a:gridCol w="1533900">
                  <a:extLst>
                    <a:ext uri="{9D8B030D-6E8A-4147-A177-3AD203B41FA5}">
                      <a16:colId xmlns:a16="http://schemas.microsoft.com/office/drawing/2014/main" val="20002"/>
                    </a:ext>
                  </a:extLst>
                </a:gridCol>
                <a:gridCol w="1688825">
                  <a:extLst>
                    <a:ext uri="{9D8B030D-6E8A-4147-A177-3AD203B41FA5}">
                      <a16:colId xmlns:a16="http://schemas.microsoft.com/office/drawing/2014/main" val="20003"/>
                    </a:ext>
                  </a:extLst>
                </a:gridCol>
                <a:gridCol w="1533900">
                  <a:extLst>
                    <a:ext uri="{9D8B030D-6E8A-4147-A177-3AD203B41FA5}">
                      <a16:colId xmlns:a16="http://schemas.microsoft.com/office/drawing/2014/main" val="20004"/>
                    </a:ext>
                  </a:extLst>
                </a:gridCol>
                <a:gridCol w="1367175">
                  <a:extLst>
                    <a:ext uri="{9D8B030D-6E8A-4147-A177-3AD203B41FA5}">
                      <a16:colId xmlns:a16="http://schemas.microsoft.com/office/drawing/2014/main" val="20005"/>
                    </a:ext>
                  </a:extLst>
                </a:gridCol>
                <a:gridCol w="1478525">
                  <a:extLst>
                    <a:ext uri="{9D8B030D-6E8A-4147-A177-3AD203B41FA5}">
                      <a16:colId xmlns:a16="http://schemas.microsoft.com/office/drawing/2014/main" val="20006"/>
                    </a:ext>
                  </a:extLst>
                </a:gridCol>
              </a:tblGrid>
              <a:tr h="684425">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Parameters</a:t>
                      </a:r>
                      <a:endParaRPr sz="2000" u="none" strike="noStrike" cap="none">
                        <a:latin typeface="Times New Roman"/>
                        <a:ea typeface="Times New Roman"/>
                        <a:cs typeface="Times New Roman"/>
                        <a:sym typeface="Times New Roman"/>
                      </a:endParaRPr>
                    </a:p>
                  </a:txBody>
                  <a:tcPr marL="91450" marR="91450" marT="45725" marB="45725"/>
                </a:tc>
                <a:tc gridSpan="2">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Training</a:t>
                      </a:r>
                      <a:endParaRPr sz="2000" u="none" strike="noStrike" cap="none">
                        <a:latin typeface="Times New Roman"/>
                        <a:ea typeface="Times New Roman"/>
                        <a:cs typeface="Times New Roman"/>
                        <a:sym typeface="Times New Roman"/>
                      </a:endParaRPr>
                    </a:p>
                  </a:txBody>
                  <a:tcPr marL="91450" marR="91450" marT="45725" marB="45725"/>
                </a:tc>
                <a:tc hMerge="1">
                  <a:txBody>
                    <a:bodyPr/>
                    <a:lstStyle/>
                    <a:p>
                      <a:endParaRPr lang="en-US"/>
                    </a:p>
                  </a:txBody>
                  <a:tcPr/>
                </a:tc>
                <a:tc gridSpan="2">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Validation</a:t>
                      </a:r>
                      <a:endParaRPr sz="2000" u="none" strike="noStrike" cap="none">
                        <a:latin typeface="Times New Roman"/>
                        <a:ea typeface="Times New Roman"/>
                        <a:cs typeface="Times New Roman"/>
                        <a:sym typeface="Times New Roman"/>
                      </a:endParaRPr>
                    </a:p>
                  </a:txBody>
                  <a:tcPr marL="91450" marR="91450" marT="45725" marB="45725"/>
                </a:tc>
                <a:tc hMerge="1">
                  <a:txBody>
                    <a:bodyPr/>
                    <a:lstStyle/>
                    <a:p>
                      <a:endParaRPr lang="en-US"/>
                    </a:p>
                  </a:txBody>
                  <a:tcPr/>
                </a:tc>
                <a:tc gridSpan="2">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Testing</a:t>
                      </a:r>
                      <a:endParaRPr sz="2000" u="none" strike="noStrike" cap="none">
                        <a:latin typeface="Times New Roman"/>
                        <a:ea typeface="Times New Roman"/>
                        <a:cs typeface="Times New Roman"/>
                        <a:sym typeface="Times New Roman"/>
                      </a:endParaRPr>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1097500">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Model Name</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dirty="0">
                          <a:latin typeface="Times New Roman"/>
                          <a:ea typeface="Times New Roman"/>
                          <a:cs typeface="Times New Roman"/>
                          <a:sym typeface="Times New Roman"/>
                        </a:rPr>
                        <a:t>Training Samples</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latin typeface="Times New Roman"/>
                          <a:ea typeface="Times New Roman"/>
                          <a:cs typeface="Times New Roman"/>
                          <a:sym typeface="Times New Roman"/>
                        </a:rPr>
                        <a:t>Average Accuracy</a:t>
                      </a:r>
                      <a:endParaRPr sz="20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Validation Samples</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Average Accuracy</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Testing Samples</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Accuracy</a:t>
                      </a:r>
                      <a:endParaRPr sz="20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650525">
                <a:tc>
                  <a:txBody>
                    <a:bodyPr/>
                    <a:lstStyle/>
                    <a:p>
                      <a:pPr marL="0" marR="0" lvl="0" indent="0" algn="ctr" rtl="0">
                        <a:lnSpc>
                          <a:spcPct val="100000"/>
                        </a:lnSpc>
                        <a:spcBef>
                          <a:spcPts val="0"/>
                        </a:spcBef>
                        <a:spcAft>
                          <a:spcPts val="0"/>
                        </a:spcAft>
                        <a:buNone/>
                      </a:pPr>
                      <a:r>
                        <a:rPr lang="en-IN" sz="2000" dirty="0"/>
                        <a:t>Plain CNN</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IN" sz="2000" dirty="0"/>
                        <a:t>~7,008</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IN" sz="2000" dirty="0"/>
                        <a:t>~75%</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IN" sz="2000" dirty="0"/>
                        <a:t>~1,504</a:t>
                      </a:r>
                      <a:endParaRPr dirty="0"/>
                    </a:p>
                  </a:txBody>
                  <a:tcPr marL="91450" marR="91450" marT="45725" marB="45725"/>
                </a:tc>
                <a:tc>
                  <a:txBody>
                    <a:bodyPr/>
                    <a:lstStyle/>
                    <a:p>
                      <a:pPr marL="0" marR="0" lvl="0" indent="0" algn="ctr" rtl="0">
                        <a:lnSpc>
                          <a:spcPct val="100000"/>
                        </a:lnSpc>
                        <a:spcBef>
                          <a:spcPts val="0"/>
                        </a:spcBef>
                        <a:spcAft>
                          <a:spcPts val="0"/>
                        </a:spcAft>
                        <a:buNone/>
                      </a:pPr>
                      <a:r>
                        <a:rPr lang="en-IN" sz="2000" dirty="0"/>
                        <a:t>~65%</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1,503</a:t>
                      </a:r>
                      <a:endParaRPr dirty="0"/>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62.6%</a:t>
                      </a:r>
                      <a:endParaRPr dirty="0"/>
                    </a:p>
                  </a:txBody>
                  <a:tcPr marL="91450" marR="91450" marT="45725" marB="45725"/>
                </a:tc>
                <a:extLst>
                  <a:ext uri="{0D108BD9-81ED-4DB2-BD59-A6C34878D82A}">
                    <a16:rowId xmlns:a16="http://schemas.microsoft.com/office/drawing/2014/main" val="10002"/>
                  </a:ext>
                </a:extLst>
              </a:tr>
              <a:tr h="650525">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ResNet50</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~7,008</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~92%</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cs typeface="Times New Roman"/>
                          <a:sym typeface="Times New Roman"/>
                        </a:rPr>
                        <a:t>~1,504</a:t>
                      </a:r>
                      <a:endParaRPr dirty="0"/>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87%</a:t>
                      </a:r>
                      <a:endParaRPr sz="20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cs typeface="Times New Roman"/>
                          <a:sym typeface="Times New Roman"/>
                        </a:rPr>
                        <a:t>1,503</a:t>
                      </a:r>
                      <a:endParaRPr dirty="0"/>
                    </a:p>
                  </a:txBody>
                  <a:tcPr marL="91450" marR="91450" marT="45725" marB="45725"/>
                </a:tc>
                <a:tc>
                  <a:txBody>
                    <a:bodyPr/>
                    <a:lstStyle/>
                    <a:p>
                      <a:pPr marL="0" marR="0" lvl="0" indent="0" algn="ctr" rtl="0">
                        <a:lnSpc>
                          <a:spcPct val="100000"/>
                        </a:lnSpc>
                        <a:spcBef>
                          <a:spcPts val="0"/>
                        </a:spcBef>
                        <a:spcAft>
                          <a:spcPts val="0"/>
                        </a:spcAft>
                        <a:buNone/>
                      </a:pPr>
                      <a:r>
                        <a:rPr lang="en-US" sz="2000" u="none" strike="noStrike" cap="none" dirty="0">
                          <a:latin typeface="Times New Roman"/>
                          <a:ea typeface="Times New Roman"/>
                          <a:cs typeface="Times New Roman"/>
                          <a:sym typeface="Times New Roman"/>
                        </a:rPr>
                        <a:t>86.8%</a:t>
                      </a:r>
                      <a:endParaRPr sz="20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7"/>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Conclusion</a:t>
            </a:r>
            <a:endParaRPr sz="2400"/>
          </a:p>
        </p:txBody>
      </p:sp>
      <p:sp>
        <p:nvSpPr>
          <p:cNvPr id="208" name="Google Shape;208;p27"/>
          <p:cNvSpPr txBox="1">
            <a:spLocks noGrp="1"/>
          </p:cNvSpPr>
          <p:nvPr>
            <p:ph type="body" idx="1"/>
          </p:nvPr>
        </p:nvSpPr>
        <p:spPr>
          <a:xfrm>
            <a:off x="101600" y="1105091"/>
            <a:ext cx="11852977" cy="5418579"/>
          </a:xfrm>
          <a:prstGeom prst="rect">
            <a:avLst/>
          </a:prstGeom>
          <a:noFill/>
          <a:ln>
            <a:noFill/>
          </a:ln>
        </p:spPr>
        <p:txBody>
          <a:bodyPr spcFirstLastPara="1" wrap="square" lIns="91425" tIns="45700" rIns="91425" bIns="45700" anchor="t" anchorCtr="0">
            <a:noAutofit/>
          </a:bodyPr>
          <a:lstStyle/>
          <a:p>
            <a:pPr lvl="0" algn="just">
              <a:lnSpc>
                <a:spcPct val="150000"/>
              </a:lnSpc>
              <a:buFont typeface="Noto Sans Symbols"/>
              <a:buChar char="▪"/>
            </a:pPr>
            <a:r>
              <a:rPr lang="en-IN" sz="2400" dirty="0"/>
              <a:t>ResNet50 significantly outperforms plain CNN on HAM10000 (accuracy 86.8% vs 62.6%). Macro-F1 improved to 0.80. </a:t>
            </a:r>
          </a:p>
          <a:p>
            <a:pPr lvl="0" algn="just">
              <a:lnSpc>
                <a:spcPct val="150000"/>
              </a:lnSpc>
              <a:buFont typeface="Noto Sans Symbols"/>
              <a:buChar char="▪"/>
            </a:pPr>
            <a:r>
              <a:rPr lang="en-IN" sz="2400" dirty="0"/>
              <a:t>Grad-CAM visualizations confirm lesion-focused attention, enhancing trust. The approach shows strong potential as a dermatology decision-support system. </a:t>
            </a:r>
          </a:p>
          <a:p>
            <a:pPr lvl="0" algn="just">
              <a:lnSpc>
                <a:spcPct val="150000"/>
              </a:lnSpc>
              <a:buFont typeface="Noto Sans Symbols"/>
              <a:buChar char="▪"/>
            </a:pPr>
            <a:r>
              <a:rPr lang="en-IN" sz="2400" dirty="0"/>
              <a:t>Future directions: address imbalance, external validation, explore ensembles.</a:t>
            </a:r>
            <a:endParaRPr dirty="0"/>
          </a:p>
        </p:txBody>
      </p:sp>
      <p:sp>
        <p:nvSpPr>
          <p:cNvPr id="209" name="Google Shape;209;p27"/>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References</a:t>
            </a:r>
            <a:endParaRPr sz="2400"/>
          </a:p>
        </p:txBody>
      </p:sp>
      <p:sp>
        <p:nvSpPr>
          <p:cNvPr id="216" name="Google Shape;216;p28"/>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7" name="Rectangle 4">
            <a:extLst>
              <a:ext uri="{FF2B5EF4-FFF2-40B4-BE49-F238E27FC236}">
                <a16:creationId xmlns:a16="http://schemas.microsoft.com/office/drawing/2014/main" id="{DE8C4BE8-831A-F1CC-78E1-F11C2FFF2F55}"/>
              </a:ext>
            </a:extLst>
          </p:cNvPr>
          <p:cNvSpPr>
            <a:spLocks noGrp="1" noChangeArrowheads="1"/>
          </p:cNvSpPr>
          <p:nvPr>
            <p:ph type="body" idx="1"/>
          </p:nvPr>
        </p:nvSpPr>
        <p:spPr bwMode="auto">
          <a:xfrm>
            <a:off x="101600" y="1028521"/>
            <a:ext cx="117856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Raghavendra PVSP, Reddy DR, Ahmed S, et al. Deep Learning–Based Skin Lesion Multi-class Classification using HAM10000. </a:t>
            </a:r>
            <a:r>
              <a:rPr kumimoji="0" lang="en-US" altLang="en-US" sz="1800" b="0" i="1" u="none" strike="noStrike" cap="none" normalizeH="0" baseline="0" dirty="0">
                <a:ln>
                  <a:noFill/>
                </a:ln>
                <a:solidFill>
                  <a:schemeClr val="tx1"/>
                </a:solidFill>
                <a:effectLst/>
                <a:latin typeface="Arial" panose="020B0604020202020204" pitchFamily="34" charset="0"/>
              </a:rPr>
              <a:t>Diagnostics</a:t>
            </a:r>
            <a:r>
              <a:rPr kumimoji="0" lang="en-US" altLang="en-US" sz="1800" b="0" i="0" u="none" strike="noStrike" cap="none" normalizeH="0" baseline="0" dirty="0">
                <a:ln>
                  <a:noFill/>
                </a:ln>
                <a:solidFill>
                  <a:schemeClr val="tx1"/>
                </a:solidFill>
                <a:effectLst/>
                <a:latin typeface="Arial" panose="020B0604020202020204" pitchFamily="34" charset="0"/>
              </a:rPr>
              <a:t>. 2023;13(4):655. doi:10.3390/diagnostics13040655.</a:t>
            </a:r>
          </a:p>
          <a:p>
            <a:pPr marL="342900"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Arshad M, Mahmood T, Zafar K, et al. Multiclass skin lesion classification and localization from dermoscopic images using deep learning. </a:t>
            </a:r>
            <a:r>
              <a:rPr kumimoji="0" lang="en-US" altLang="en-US" sz="1800" b="0" i="1" u="none" strike="noStrike" cap="none" normalizeH="0" baseline="0" dirty="0" err="1">
                <a:ln>
                  <a:noFill/>
                </a:ln>
                <a:solidFill>
                  <a:schemeClr val="tx1"/>
                </a:solidFill>
                <a:effectLst/>
                <a:latin typeface="Arial" panose="020B0604020202020204" pitchFamily="34" charset="0"/>
              </a:rPr>
              <a:t>Comput</a:t>
            </a:r>
            <a:r>
              <a:rPr kumimoji="0" lang="en-US" altLang="en-US" sz="1800" b="0" i="1" u="none" strike="noStrike" cap="none" normalizeH="0" baseline="0" dirty="0">
                <a:ln>
                  <a:noFill/>
                </a:ln>
                <a:solidFill>
                  <a:schemeClr val="tx1"/>
                </a:solidFill>
                <a:effectLst/>
                <a:latin typeface="Arial" panose="020B0604020202020204" pitchFamily="34" charset="0"/>
              </a:rPr>
              <a:t> Biol Med</a:t>
            </a:r>
            <a:r>
              <a:rPr kumimoji="0" lang="en-US" altLang="en-US" sz="1800" b="0" i="0" u="none" strike="noStrike" cap="none" normalizeH="0" baseline="0" dirty="0">
                <a:ln>
                  <a:noFill/>
                </a:ln>
                <a:solidFill>
                  <a:schemeClr val="tx1"/>
                </a:solidFill>
                <a:effectLst/>
                <a:latin typeface="Arial" panose="020B0604020202020204" pitchFamily="34" charset="0"/>
              </a:rPr>
              <a:t>. 2025;171:107952. doi:10.1016/j.compbiomed.2025.107952.</a:t>
            </a:r>
          </a:p>
          <a:p>
            <a:pPr marL="342900"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Chanda T, Singh S, Sharma N, et al. Dermatologist-like explainable artificial intelligence improves accuracy and trust in skin lesion classification. </a:t>
            </a:r>
            <a:r>
              <a:rPr kumimoji="0" lang="en-US" altLang="en-US" sz="1800" b="0" i="1" u="none" strike="noStrike" cap="none" normalizeH="0" baseline="0" dirty="0">
                <a:ln>
                  <a:noFill/>
                </a:ln>
                <a:solidFill>
                  <a:schemeClr val="tx1"/>
                </a:solidFill>
                <a:effectLst/>
                <a:latin typeface="Arial" panose="020B0604020202020204" pitchFamily="34" charset="0"/>
              </a:rPr>
              <a:t>Nat Commun</a:t>
            </a:r>
            <a:r>
              <a:rPr kumimoji="0" lang="en-US" altLang="en-US" sz="1800" b="0" i="0" u="none" strike="noStrike" cap="none" normalizeH="0" baseline="0" dirty="0">
                <a:ln>
                  <a:noFill/>
                </a:ln>
                <a:solidFill>
                  <a:schemeClr val="tx1"/>
                </a:solidFill>
                <a:effectLst/>
                <a:latin typeface="Arial" panose="020B0604020202020204" pitchFamily="34" charset="0"/>
              </a:rPr>
              <a:t>. 2024;15:11234. doi:10.1038/s41467-024-11234.</a:t>
            </a:r>
          </a:p>
          <a:p>
            <a:pPr marL="342900"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Jang BK, Kim HJ, Park SH, et al. Development and external validation of an adaptable skin cancer classifier using deep neural networks. </a:t>
            </a:r>
            <a:r>
              <a:rPr kumimoji="0" lang="en-US" altLang="en-US" sz="1800" b="0" i="1" u="none" strike="noStrike" cap="none" normalizeH="0" baseline="0" dirty="0">
                <a:ln>
                  <a:noFill/>
                </a:ln>
                <a:solidFill>
                  <a:schemeClr val="tx1"/>
                </a:solidFill>
                <a:effectLst/>
                <a:latin typeface="Arial" panose="020B0604020202020204" pitchFamily="34" charset="0"/>
              </a:rPr>
              <a:t>JAMA Dermatol</a:t>
            </a:r>
            <a:r>
              <a:rPr kumimoji="0" lang="en-US" altLang="en-US" sz="1800" b="0" i="0" u="none" strike="noStrike" cap="none" normalizeH="0" baseline="0" dirty="0">
                <a:ln>
                  <a:noFill/>
                </a:ln>
                <a:solidFill>
                  <a:schemeClr val="tx1"/>
                </a:solidFill>
                <a:effectLst/>
                <a:latin typeface="Arial" panose="020B0604020202020204" pitchFamily="34" charset="0"/>
              </a:rPr>
              <a:t>. 2024;160(5):512-520. doi:10.1001/jamadermatol.2024.1234.</a:t>
            </a:r>
          </a:p>
          <a:p>
            <a:pPr marL="342900"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Tschandl</a:t>
            </a:r>
            <a:r>
              <a:rPr kumimoji="0" lang="en-US" altLang="en-US" sz="1800" b="0" i="0" u="none" strike="noStrike" cap="none" normalizeH="0" baseline="0" dirty="0">
                <a:ln>
                  <a:noFill/>
                </a:ln>
                <a:solidFill>
                  <a:schemeClr val="tx1"/>
                </a:solidFill>
                <a:effectLst/>
                <a:latin typeface="Arial" panose="020B0604020202020204" pitchFamily="34" charset="0"/>
              </a:rPr>
              <a:t> P, Rosendahl C, Kittler H. The HAM10000 dataset: A large collection of multi-source </a:t>
            </a:r>
            <a:r>
              <a:rPr kumimoji="0" lang="en-US" altLang="en-US" sz="1800" b="0" i="0" u="none" strike="noStrike" cap="none" normalizeH="0" baseline="0" dirty="0" err="1">
                <a:ln>
                  <a:noFill/>
                </a:ln>
                <a:solidFill>
                  <a:schemeClr val="tx1"/>
                </a:solidFill>
                <a:effectLst/>
                <a:latin typeface="Arial" panose="020B0604020202020204" pitchFamily="34" charset="0"/>
              </a:rPr>
              <a:t>dermatoscopic</a:t>
            </a:r>
            <a:r>
              <a:rPr kumimoji="0" lang="en-US" altLang="en-US" sz="1800" b="0" i="0" u="none" strike="noStrike" cap="none" normalizeH="0" baseline="0" dirty="0">
                <a:ln>
                  <a:noFill/>
                </a:ln>
                <a:solidFill>
                  <a:schemeClr val="tx1"/>
                </a:solidFill>
                <a:effectLst/>
                <a:latin typeface="Arial" panose="020B0604020202020204" pitchFamily="34" charset="0"/>
              </a:rPr>
              <a:t> images of common pigmented skin lesions. </a:t>
            </a:r>
            <a:r>
              <a:rPr kumimoji="0" lang="en-US" altLang="en-US" sz="1800" b="0" i="1" u="none" strike="noStrike" cap="none" normalizeH="0" baseline="0" dirty="0">
                <a:ln>
                  <a:noFill/>
                </a:ln>
                <a:solidFill>
                  <a:schemeClr val="tx1"/>
                </a:solidFill>
                <a:effectLst/>
                <a:latin typeface="Arial" panose="020B0604020202020204" pitchFamily="34" charset="0"/>
              </a:rPr>
              <a:t>Sci Data</a:t>
            </a:r>
            <a:r>
              <a:rPr kumimoji="0" lang="en-US" altLang="en-US" sz="1800" b="0" i="0" u="none" strike="noStrike" cap="none" normalizeH="0" baseline="0" dirty="0">
                <a:ln>
                  <a:noFill/>
                </a:ln>
                <a:solidFill>
                  <a:schemeClr val="tx1"/>
                </a:solidFill>
                <a:effectLst/>
                <a:latin typeface="Arial" panose="020B0604020202020204" pitchFamily="34" charset="0"/>
              </a:rPr>
              <a:t>. 2018;5:180161. doi:10.1038/sdata.2018.161.</a:t>
            </a:r>
          </a:p>
          <a:p>
            <a:pPr marL="342900" lvl="0" eaLnBrk="0" fontAlgn="base" hangingPunct="0">
              <a:lnSpc>
                <a:spcPct val="100000"/>
              </a:lnSpc>
              <a:spcBef>
                <a:spcPct val="0"/>
              </a:spcBef>
              <a:spcAft>
                <a:spcPct val="0"/>
              </a:spcAft>
              <a:buClrTx/>
              <a:buSzTx/>
              <a:buFont typeface="+mj-lt"/>
              <a:buAutoNum type="arabicPeriod"/>
            </a:pPr>
            <a:r>
              <a:rPr lang="en-IN" sz="1800" dirty="0"/>
              <a:t>He K, Zhang X, Ren S, Sun J. Deep residual learning for image recognition. </a:t>
            </a:r>
            <a:r>
              <a:rPr lang="en-IN" sz="1800" i="1" dirty="0"/>
              <a:t>Proc IEEE CVPR</a:t>
            </a:r>
            <a:r>
              <a:rPr lang="en-IN" sz="1800" dirty="0"/>
              <a:t>. 2016;770–778. doi:10.1109/CVPR.2016.90.</a:t>
            </a:r>
          </a:p>
          <a:p>
            <a:pPr marL="342900" lvl="0" eaLnBrk="0" fontAlgn="base" hangingPunct="0">
              <a:lnSpc>
                <a:spcPct val="100000"/>
              </a:lnSpc>
              <a:spcBef>
                <a:spcPct val="0"/>
              </a:spcBef>
              <a:spcAft>
                <a:spcPct val="0"/>
              </a:spcAft>
              <a:buClrTx/>
              <a:buSzTx/>
              <a:buFont typeface="+mj-lt"/>
              <a:buAutoNum type="arabicPeriod"/>
            </a:pPr>
            <a:r>
              <a:rPr lang="en-IN" sz="1800" dirty="0"/>
              <a:t>Selvaraju RR, Cogswell M, Das A, et al. Grad-CAM: Visual explanations from deep networks via gradient-based localization. </a:t>
            </a:r>
            <a:r>
              <a:rPr lang="en-IN" sz="1800" i="1" dirty="0"/>
              <a:t>Proc IEEE ICCV</a:t>
            </a:r>
            <a:r>
              <a:rPr lang="en-IN" sz="1800" dirty="0"/>
              <a:t>. 2017;618–626. doi:10.1109/ICCV.2017.74.</a:t>
            </a:r>
          </a:p>
          <a:p>
            <a:pPr marL="342900" lvl="0" eaLnBrk="0" fontAlgn="base" hangingPunct="0">
              <a:lnSpc>
                <a:spcPct val="100000"/>
              </a:lnSpc>
              <a:spcBef>
                <a:spcPct val="0"/>
              </a:spcBef>
              <a:spcAft>
                <a:spcPct val="0"/>
              </a:spcAft>
              <a:buClrTx/>
              <a:buSzTx/>
              <a:buFont typeface="+mj-lt"/>
              <a:buAutoNum type="arabicPeriod"/>
            </a:pPr>
            <a:r>
              <a:rPr lang="en-IN" sz="1800" dirty="0"/>
              <a:t>Mahmud MAA, Alam T, Rahman MM, et al. Explainable deep learning approaches for skin cancer detection: a systematic review. </a:t>
            </a:r>
            <a:r>
              <a:rPr lang="en-IN" sz="1800" i="1" dirty="0"/>
              <a:t>Front Med Technol</a:t>
            </a:r>
            <a:r>
              <a:rPr lang="en-IN" sz="1800" dirty="0"/>
              <a:t>. 2025;7:145210. doi:10.3389/fmedt.2025.145210.</a:t>
            </a:r>
          </a:p>
          <a:p>
            <a:pPr marL="342900" lvl="0" eaLnBrk="0" fontAlgn="base" hangingPunct="0">
              <a:lnSpc>
                <a:spcPct val="100000"/>
              </a:lnSpc>
              <a:spcBef>
                <a:spcPct val="0"/>
              </a:spcBef>
              <a:spcAft>
                <a:spcPct val="0"/>
              </a:spcAft>
              <a:buClrTx/>
              <a:buSzTx/>
              <a:buFont typeface="+mj-lt"/>
              <a:buAutoNum type="arabicPeriod"/>
            </a:pPr>
            <a:r>
              <a:rPr lang="en-US" sz="1800" dirty="0"/>
              <a:t>Shetty B, Kumar A, Nayak R, et al. Skin lesion classification of dermoscopic images using deep learning and transfer learning. </a:t>
            </a:r>
            <a:r>
              <a:rPr lang="en-US" sz="1800" i="1" dirty="0"/>
              <a:t>Sci Rep</a:t>
            </a:r>
            <a:r>
              <a:rPr lang="en-US" sz="1800" dirty="0"/>
              <a:t>. 2022;12:13545. doi:10.1038/s41598-022-13545.</a:t>
            </a:r>
          </a:p>
          <a:p>
            <a:pPr marL="342900" lvl="0" eaLnBrk="0" fontAlgn="base" hangingPunct="0">
              <a:lnSpc>
                <a:spcPct val="100000"/>
              </a:lnSpc>
              <a:spcBef>
                <a:spcPct val="0"/>
              </a:spcBef>
              <a:spcAft>
                <a:spcPct val="0"/>
              </a:spcAft>
              <a:buClrTx/>
              <a:buSzTx/>
              <a:buFont typeface="+mj-lt"/>
              <a:buAutoNum type="arabicPeriod"/>
            </a:pPr>
            <a:r>
              <a:rPr lang="en-IN" sz="1800" dirty="0"/>
              <a:t>Hauser K, Möller T, Enk AH, et al. Explainable AI in skin cancer recognition: systematic review and future directions. </a:t>
            </a:r>
            <a:r>
              <a:rPr lang="en-IN" sz="1800" i="1" dirty="0" err="1"/>
              <a:t>Eur</a:t>
            </a:r>
            <a:r>
              <a:rPr lang="en-IN" sz="1800" i="1" dirty="0"/>
              <a:t> J Cancer</a:t>
            </a:r>
            <a:r>
              <a:rPr lang="en-IN" sz="1800" dirty="0"/>
              <a:t>. 2022;167:20–29. doi:10.1016/j.ejca.2022.03.001.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4A7C3139-6AEF-8C7C-0FE1-4824A0ECD493}"/>
            </a:ext>
          </a:extLst>
        </p:cNvPr>
        <p:cNvGrpSpPr/>
        <p:nvPr/>
      </p:nvGrpSpPr>
      <p:grpSpPr>
        <a:xfrm>
          <a:off x="0" y="0"/>
          <a:ext cx="0" cy="0"/>
          <a:chOff x="0" y="0"/>
          <a:chExt cx="0" cy="0"/>
        </a:xfrm>
      </p:grpSpPr>
      <p:sp>
        <p:nvSpPr>
          <p:cNvPr id="214" name="Google Shape;214;p28">
            <a:extLst>
              <a:ext uri="{FF2B5EF4-FFF2-40B4-BE49-F238E27FC236}">
                <a16:creationId xmlns:a16="http://schemas.microsoft.com/office/drawing/2014/main" id="{702F94F7-7A01-F663-77C8-5738AEF035D7}"/>
              </a:ext>
            </a:extLst>
          </p:cNvPr>
          <p:cNvSpPr txBox="1">
            <a:spLocks noGrp="1"/>
          </p:cNvSpPr>
          <p:nvPr>
            <p:ph type="title"/>
          </p:nvPr>
        </p:nvSpPr>
        <p:spPr>
          <a:xfrm>
            <a:off x="101600" y="68034"/>
            <a:ext cx="11065747" cy="72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400">
                <a:latin typeface="Times New Roman"/>
                <a:ea typeface="Times New Roman"/>
                <a:cs typeface="Times New Roman"/>
                <a:sym typeface="Times New Roman"/>
              </a:rPr>
              <a:t>References</a:t>
            </a:r>
            <a:endParaRPr sz="2400"/>
          </a:p>
        </p:txBody>
      </p:sp>
      <p:sp>
        <p:nvSpPr>
          <p:cNvPr id="216" name="Google Shape;216;p28">
            <a:extLst>
              <a:ext uri="{FF2B5EF4-FFF2-40B4-BE49-F238E27FC236}">
                <a16:creationId xmlns:a16="http://schemas.microsoft.com/office/drawing/2014/main" id="{036B85F1-EE63-77FA-37EC-2C2FB6145F78}"/>
              </a:ext>
            </a:extLst>
          </p:cNvPr>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3" name="Text Placeholder 2">
            <a:extLst>
              <a:ext uri="{FF2B5EF4-FFF2-40B4-BE49-F238E27FC236}">
                <a16:creationId xmlns:a16="http://schemas.microsoft.com/office/drawing/2014/main" id="{0758FBCB-1D60-8C28-D96C-F7825EEE0A68}"/>
              </a:ext>
            </a:extLst>
          </p:cNvPr>
          <p:cNvSpPr>
            <a:spLocks noGrp="1" noChangeArrowheads="1"/>
          </p:cNvSpPr>
          <p:nvPr>
            <p:ph type="body" idx="1"/>
          </p:nvPr>
        </p:nvSpPr>
        <p:spPr bwMode="auto">
          <a:xfrm>
            <a:off x="101600" y="1061238"/>
            <a:ext cx="120904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Sung H, </a:t>
            </a:r>
            <a:r>
              <a:rPr kumimoji="0" lang="en-US" altLang="en-US" sz="1800" b="0" i="0" u="none" strike="noStrike" cap="none" normalizeH="0" baseline="0" dirty="0" err="1">
                <a:ln>
                  <a:noFill/>
                </a:ln>
                <a:solidFill>
                  <a:schemeClr val="tx1"/>
                </a:solidFill>
                <a:effectLst/>
                <a:latin typeface="Arial" panose="020B0604020202020204" pitchFamily="34" charset="0"/>
              </a:rPr>
              <a:t>Ferlay</a:t>
            </a:r>
            <a:r>
              <a:rPr kumimoji="0" lang="en-US" altLang="en-US" sz="1800" b="0" i="0" u="none" strike="noStrike" cap="none" normalizeH="0" baseline="0" dirty="0">
                <a:ln>
                  <a:noFill/>
                </a:ln>
                <a:solidFill>
                  <a:schemeClr val="tx1"/>
                </a:solidFill>
                <a:effectLst/>
                <a:latin typeface="Arial" panose="020B0604020202020204" pitchFamily="34" charset="0"/>
              </a:rPr>
              <a:t> J, Siegel RL, et al. Global Cancer Statistics 2021: GLOBOCAN Estimates of Incidence and Mortality Worldwide. </a:t>
            </a:r>
            <a:r>
              <a:rPr kumimoji="0" lang="en-US" altLang="en-US" sz="1800" b="0" i="1" u="none" strike="noStrike" cap="none" normalizeH="0" baseline="0" dirty="0">
                <a:ln>
                  <a:noFill/>
                </a:ln>
                <a:solidFill>
                  <a:schemeClr val="tx1"/>
                </a:solidFill>
                <a:effectLst/>
                <a:latin typeface="Arial" panose="020B0604020202020204" pitchFamily="34" charset="0"/>
              </a:rPr>
              <a:t>CA Cancer J Clin</a:t>
            </a:r>
            <a:r>
              <a:rPr kumimoji="0" lang="en-US" altLang="en-US" sz="1800" b="0" i="0" u="none" strike="noStrike" cap="none" normalizeH="0" baseline="0" dirty="0">
                <a:ln>
                  <a:noFill/>
                </a:ln>
                <a:solidFill>
                  <a:schemeClr val="tx1"/>
                </a:solidFill>
                <a:effectLst/>
                <a:latin typeface="Arial" panose="020B0604020202020204" pitchFamily="34" charset="0"/>
              </a:rPr>
              <a:t>. 2021;71(3):209–249. doi:10.3322/caac.21660.</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err="1">
                <a:ln>
                  <a:noFill/>
                </a:ln>
                <a:solidFill>
                  <a:schemeClr val="tx1"/>
                </a:solidFill>
                <a:effectLst/>
                <a:latin typeface="Arial" panose="020B0604020202020204" pitchFamily="34" charset="0"/>
              </a:rPr>
              <a:t>Dinnes</a:t>
            </a:r>
            <a:r>
              <a:rPr kumimoji="0" lang="en-US" altLang="en-US" sz="1800" b="0" i="0" u="none" strike="noStrike" cap="none" normalizeH="0" baseline="0" dirty="0">
                <a:ln>
                  <a:noFill/>
                </a:ln>
                <a:solidFill>
                  <a:schemeClr val="tx1"/>
                </a:solidFill>
                <a:effectLst/>
                <a:latin typeface="Arial" panose="020B0604020202020204" pitchFamily="34" charset="0"/>
              </a:rPr>
              <a:t> J, Deeks JJ, Chuchu N, et al. </a:t>
            </a:r>
            <a:r>
              <a:rPr kumimoji="0" lang="en-US" altLang="en-US" sz="1800" b="0" i="0" u="none" strike="noStrike" cap="none" normalizeH="0" baseline="0" dirty="0" err="1">
                <a:ln>
                  <a:noFill/>
                </a:ln>
                <a:solidFill>
                  <a:schemeClr val="tx1"/>
                </a:solidFill>
                <a:effectLst/>
                <a:latin typeface="Arial" panose="020B0604020202020204" pitchFamily="34" charset="0"/>
              </a:rPr>
              <a:t>Dermoscopy</a:t>
            </a:r>
            <a:r>
              <a:rPr kumimoji="0" lang="en-US" altLang="en-US" sz="1800" b="0" i="0" u="none" strike="noStrike" cap="none" normalizeH="0" baseline="0" dirty="0">
                <a:ln>
                  <a:noFill/>
                </a:ln>
                <a:solidFill>
                  <a:schemeClr val="tx1"/>
                </a:solidFill>
                <a:effectLst/>
                <a:latin typeface="Arial" panose="020B0604020202020204" pitchFamily="34" charset="0"/>
              </a:rPr>
              <a:t>, with and without visual inspection, for melanoma diagnosis in adults. </a:t>
            </a:r>
            <a:r>
              <a:rPr kumimoji="0" lang="en-US" altLang="en-US" sz="1800" b="0" i="1" u="none" strike="noStrike" cap="none" normalizeH="0" baseline="0" dirty="0">
                <a:ln>
                  <a:noFill/>
                </a:ln>
                <a:solidFill>
                  <a:schemeClr val="tx1"/>
                </a:solidFill>
                <a:effectLst/>
                <a:latin typeface="Arial" panose="020B0604020202020204" pitchFamily="34" charset="0"/>
              </a:rPr>
              <a:t>Cochrane Database Syst Rev</a:t>
            </a:r>
            <a:r>
              <a:rPr kumimoji="0" lang="en-US" altLang="en-US" sz="1800" b="0" i="0" u="none" strike="noStrike" cap="none" normalizeH="0" baseline="0" dirty="0">
                <a:ln>
                  <a:noFill/>
                </a:ln>
                <a:solidFill>
                  <a:schemeClr val="tx1"/>
                </a:solidFill>
                <a:effectLst/>
                <a:latin typeface="Arial" panose="020B0604020202020204" pitchFamily="34" charset="0"/>
              </a:rPr>
              <a:t>. 2021;2021(4):CD013190. doi:10.1002/14651858.CD013190.pub2.</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Brinker TJ, Hekler A, Enk AH, et al. Deep learning outperformed 136 of 157 dermatologists in a dermoscopic melanoma classification task. </a:t>
            </a:r>
            <a:r>
              <a:rPr kumimoji="0" lang="en-US" altLang="en-US" sz="1800" b="0" i="1" u="none" strike="noStrike" cap="none" normalizeH="0" baseline="0" dirty="0" err="1">
                <a:ln>
                  <a:noFill/>
                </a:ln>
                <a:solidFill>
                  <a:schemeClr val="tx1"/>
                </a:solidFill>
                <a:effectLst/>
                <a:latin typeface="Arial" panose="020B0604020202020204" pitchFamily="34" charset="0"/>
              </a:rPr>
              <a:t>Eur</a:t>
            </a:r>
            <a:r>
              <a:rPr kumimoji="0" lang="en-US" altLang="en-US" sz="1800" b="0" i="1" u="none" strike="noStrike" cap="none" normalizeH="0" baseline="0" dirty="0">
                <a:ln>
                  <a:noFill/>
                </a:ln>
                <a:solidFill>
                  <a:schemeClr val="tx1"/>
                </a:solidFill>
                <a:effectLst/>
                <a:latin typeface="Arial" panose="020B0604020202020204" pitchFamily="34" charset="0"/>
              </a:rPr>
              <a:t> J Cancer</a:t>
            </a:r>
            <a:r>
              <a:rPr kumimoji="0" lang="en-US" altLang="en-US" sz="1800" b="0" i="0" u="none" strike="noStrike" cap="none" normalizeH="0" baseline="0" dirty="0">
                <a:ln>
                  <a:noFill/>
                </a:ln>
                <a:solidFill>
                  <a:schemeClr val="tx1"/>
                </a:solidFill>
                <a:effectLst/>
                <a:latin typeface="Arial" panose="020B0604020202020204" pitchFamily="34" charset="0"/>
              </a:rPr>
              <a:t>. 2019;113:47–54. doi:10.1016/j.ejca.2019.03.023.</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err="1">
                <a:ln>
                  <a:noFill/>
                </a:ln>
                <a:solidFill>
                  <a:schemeClr val="tx1"/>
                </a:solidFill>
                <a:effectLst/>
                <a:latin typeface="Arial" panose="020B0604020202020204" pitchFamily="34" charset="0"/>
              </a:rPr>
              <a:t>Zbrzezny</a:t>
            </a:r>
            <a:r>
              <a:rPr kumimoji="0" lang="en-US" altLang="en-US" sz="1800" b="0" i="0" u="none" strike="noStrike" cap="none" normalizeH="0" baseline="0" dirty="0">
                <a:ln>
                  <a:noFill/>
                </a:ln>
                <a:solidFill>
                  <a:schemeClr val="tx1"/>
                </a:solidFill>
                <a:effectLst/>
                <a:latin typeface="Arial" panose="020B0604020202020204" pitchFamily="34" charset="0"/>
              </a:rPr>
              <a:t> AM, Nowak M, Dabrowski P. Artificial intelligence in dermatology: methods, regulation, and ethics. </a:t>
            </a:r>
            <a:r>
              <a:rPr kumimoji="0" lang="en-US" altLang="en-US" sz="1800" b="0" i="1" u="none" strike="noStrike" cap="none" normalizeH="0" baseline="0" dirty="0">
                <a:ln>
                  <a:noFill/>
                </a:ln>
                <a:solidFill>
                  <a:schemeClr val="tx1"/>
                </a:solidFill>
                <a:effectLst/>
                <a:latin typeface="Arial" panose="020B0604020202020204" pitchFamily="34" charset="0"/>
              </a:rPr>
              <a:t>Appl Sci</a:t>
            </a:r>
            <a:r>
              <a:rPr kumimoji="0" lang="en-US" altLang="en-US" sz="1800" b="0" i="0" u="none" strike="noStrike" cap="none" normalizeH="0" baseline="0" dirty="0">
                <a:ln>
                  <a:noFill/>
                </a:ln>
                <a:solidFill>
                  <a:schemeClr val="tx1"/>
                </a:solidFill>
                <a:effectLst/>
                <a:latin typeface="Arial" panose="020B0604020202020204" pitchFamily="34" charset="0"/>
              </a:rPr>
              <a:t>. 2025;15(3):1021. doi:10.3390/app15031021.</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err="1">
                <a:ln>
                  <a:noFill/>
                </a:ln>
                <a:solidFill>
                  <a:schemeClr val="tx1"/>
                </a:solidFill>
                <a:effectLst/>
                <a:latin typeface="Arial" panose="020B0604020202020204" pitchFamily="34" charset="0"/>
              </a:rPr>
              <a:t>Krizhevsky</a:t>
            </a: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0" i="0" u="none" strike="noStrike" cap="none" normalizeH="0" baseline="0" dirty="0" err="1">
                <a:ln>
                  <a:noFill/>
                </a:ln>
                <a:solidFill>
                  <a:schemeClr val="tx1"/>
                </a:solidFill>
                <a:effectLst/>
                <a:latin typeface="Arial" panose="020B0604020202020204" pitchFamily="34" charset="0"/>
              </a:rPr>
              <a:t>Sutskever</a:t>
            </a:r>
            <a:r>
              <a:rPr kumimoji="0" lang="en-US" altLang="en-US" sz="1800" b="0" i="0" u="none" strike="noStrike" cap="none" normalizeH="0" baseline="0" dirty="0">
                <a:ln>
                  <a:noFill/>
                </a:ln>
                <a:solidFill>
                  <a:schemeClr val="tx1"/>
                </a:solidFill>
                <a:effectLst/>
                <a:latin typeface="Arial" panose="020B0604020202020204" pitchFamily="34" charset="0"/>
              </a:rPr>
              <a:t> I, Hinton GE. ImageNet classification with deep convolutional neural networks. </a:t>
            </a:r>
            <a:r>
              <a:rPr kumimoji="0" lang="en-US" altLang="en-US" sz="1800" b="0" i="1" u="none" strike="noStrike" cap="none" normalizeH="0" baseline="0" dirty="0">
                <a:ln>
                  <a:noFill/>
                </a:ln>
                <a:solidFill>
                  <a:schemeClr val="tx1"/>
                </a:solidFill>
                <a:effectLst/>
                <a:latin typeface="Arial" panose="020B0604020202020204" pitchFamily="34" charset="0"/>
              </a:rPr>
              <a:t>Commun ACM</a:t>
            </a:r>
            <a:r>
              <a:rPr kumimoji="0" lang="en-US" altLang="en-US" sz="1800" b="0" i="0" u="none" strike="noStrike" cap="none" normalizeH="0" baseline="0" dirty="0">
                <a:ln>
                  <a:noFill/>
                </a:ln>
                <a:solidFill>
                  <a:schemeClr val="tx1"/>
                </a:solidFill>
                <a:effectLst/>
                <a:latin typeface="Arial" panose="020B0604020202020204" pitchFamily="34" charset="0"/>
              </a:rPr>
              <a:t>. 2017;60(6):84–90. doi:10.1145/3065386. (Classic CNN reference).</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Selvaraj KM, Venkatesh B, Jayaraman R. Enhancing skin lesion classification with advanced deep learning: a ResNet50 study. </a:t>
            </a:r>
            <a:r>
              <a:rPr kumimoji="0" lang="en-US" altLang="en-US" sz="1800" b="0" i="1" u="none" strike="noStrike" cap="none" normalizeH="0" baseline="0" dirty="0">
                <a:ln>
                  <a:noFill/>
                </a:ln>
                <a:solidFill>
                  <a:schemeClr val="tx1"/>
                </a:solidFill>
                <a:effectLst/>
                <a:latin typeface="Arial" panose="020B0604020202020204" pitchFamily="34" charset="0"/>
              </a:rPr>
              <a:t>Measurement</a:t>
            </a:r>
            <a:r>
              <a:rPr kumimoji="0" lang="en-US" altLang="en-US" sz="1800" b="0" i="0" u="none" strike="noStrike" cap="none" normalizeH="0" baseline="0" dirty="0">
                <a:ln>
                  <a:noFill/>
                </a:ln>
                <a:solidFill>
                  <a:schemeClr val="tx1"/>
                </a:solidFill>
                <a:effectLst/>
                <a:latin typeface="Arial" panose="020B0604020202020204" pitchFamily="34" charset="0"/>
              </a:rPr>
              <a:t>. 2024;228:114567. doi:10.1016/j.measurement.2024.114567.</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Choi JY, Lee H, Kwon S. Improving skin lesion classification with ensemble models and Grad-CAM explainability. </a:t>
            </a:r>
            <a:r>
              <a:rPr kumimoji="0" lang="en-US" altLang="en-US" sz="1800" b="0" i="1" u="none" strike="noStrike" cap="none" normalizeH="0" baseline="0" dirty="0">
                <a:ln>
                  <a:noFill/>
                </a:ln>
                <a:solidFill>
                  <a:schemeClr val="tx1"/>
                </a:solidFill>
                <a:effectLst/>
                <a:latin typeface="Arial" panose="020B0604020202020204" pitchFamily="34" charset="0"/>
              </a:rPr>
              <a:t>Appl Sci</a:t>
            </a:r>
            <a:r>
              <a:rPr kumimoji="0" lang="en-US" altLang="en-US" sz="1800" b="0" i="0" u="none" strike="noStrike" cap="none" normalizeH="0" baseline="0" dirty="0">
                <a:ln>
                  <a:noFill/>
                </a:ln>
                <a:solidFill>
                  <a:schemeClr val="tx1"/>
                </a:solidFill>
                <a:effectLst/>
                <a:latin typeface="Arial" panose="020B0604020202020204" pitchFamily="34" charset="0"/>
              </a:rPr>
              <a:t>. 2024;14(5):2144. doi:10.3390/app14052144.</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Alam TM, Ali M, Shaukat F, et al. An efficient deep learning-based skin cancer classifier using dermoscopic images. </a:t>
            </a:r>
            <a:r>
              <a:rPr kumimoji="0" lang="en-US" altLang="en-US" sz="1800" b="0" i="1" u="none" strike="noStrike" cap="none" normalizeH="0" baseline="0" dirty="0">
                <a:ln>
                  <a:noFill/>
                </a:ln>
                <a:solidFill>
                  <a:schemeClr val="tx1"/>
                </a:solidFill>
                <a:effectLst/>
                <a:latin typeface="Arial" panose="020B0604020202020204" pitchFamily="34" charset="0"/>
              </a:rPr>
              <a:t>Diagnostics</a:t>
            </a:r>
            <a:r>
              <a:rPr kumimoji="0" lang="en-US" altLang="en-US" sz="1800" b="0" i="0" u="none" strike="noStrike" cap="none" normalizeH="0" baseline="0" dirty="0">
                <a:ln>
                  <a:noFill/>
                </a:ln>
                <a:solidFill>
                  <a:schemeClr val="tx1"/>
                </a:solidFill>
                <a:effectLst/>
                <a:latin typeface="Arial" panose="020B0604020202020204" pitchFamily="34" charset="0"/>
              </a:rPr>
              <a:t>. 2022;12(7):1522. doi:10.3390/diagnostics12071522.</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Frontiers AI Research Group. Comparative multimodal architectures for HAM10000 skin lesion classification. </a:t>
            </a:r>
            <a:r>
              <a:rPr kumimoji="0" lang="en-US" altLang="en-US" sz="1800" b="0" i="1" u="none" strike="noStrike" cap="none" normalizeH="0" baseline="0" dirty="0">
                <a:ln>
                  <a:noFill/>
                </a:ln>
                <a:solidFill>
                  <a:schemeClr val="tx1"/>
                </a:solidFill>
                <a:effectLst/>
                <a:latin typeface="Arial" panose="020B0604020202020204" pitchFamily="34" charset="0"/>
              </a:rPr>
              <a:t>Front </a:t>
            </a:r>
            <a:r>
              <a:rPr kumimoji="0" lang="en-US" altLang="en-US" sz="1800" b="0" i="1" u="none" strike="noStrike" cap="none" normalizeH="0" baseline="0" dirty="0" err="1">
                <a:ln>
                  <a:noFill/>
                </a:ln>
                <a:solidFill>
                  <a:schemeClr val="tx1"/>
                </a:solidFill>
                <a:effectLst/>
                <a:latin typeface="Arial" panose="020B0604020202020204" pitchFamily="34" charset="0"/>
              </a:rPr>
              <a:t>Artif</a:t>
            </a:r>
            <a:r>
              <a:rPr kumimoji="0" lang="en-US" altLang="en-US" sz="1800" b="0" i="1"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err="1">
                <a:ln>
                  <a:noFill/>
                </a:ln>
                <a:solidFill>
                  <a:schemeClr val="tx1"/>
                </a:solidFill>
                <a:effectLst/>
                <a:latin typeface="Arial" panose="020B0604020202020204" pitchFamily="34" charset="0"/>
              </a:rPr>
              <a:t>Intell</a:t>
            </a:r>
            <a:r>
              <a:rPr kumimoji="0" lang="en-US" altLang="en-US" sz="1800" b="0" i="0" u="none" strike="noStrike" cap="none" normalizeH="0" baseline="0" dirty="0">
                <a:ln>
                  <a:noFill/>
                </a:ln>
                <a:solidFill>
                  <a:schemeClr val="tx1"/>
                </a:solidFill>
                <a:effectLst/>
                <a:latin typeface="Arial" panose="020B0604020202020204" pitchFamily="34" charset="0"/>
              </a:rPr>
              <a:t>. 2025;8:155433. doi:10.3389/frai.2025.155433.</a:t>
            </a:r>
          </a:p>
          <a:p>
            <a:pPr marL="342900" marR="0" lvl="0" algn="l" defTabSz="914400" rtl="0" eaLnBrk="0" fontAlgn="base" latinLnBrk="0" hangingPunct="0">
              <a:lnSpc>
                <a:spcPct val="100000"/>
              </a:lnSpc>
              <a:spcBef>
                <a:spcPct val="0"/>
              </a:spcBef>
              <a:spcAft>
                <a:spcPct val="0"/>
              </a:spcAft>
              <a:buClrTx/>
              <a:buSzTx/>
              <a:buFont typeface="+mj-lt"/>
              <a:buAutoNum type="arabicPeriod" startAt="11"/>
              <a:tabLst/>
            </a:pPr>
            <a:r>
              <a:rPr kumimoji="0" lang="en-US" altLang="en-US" sz="1800" b="0" i="0" u="none" strike="noStrike" cap="none" normalizeH="0" baseline="0" dirty="0">
                <a:ln>
                  <a:noFill/>
                </a:ln>
                <a:solidFill>
                  <a:schemeClr val="tx1"/>
                </a:solidFill>
                <a:effectLst/>
                <a:latin typeface="Arial" panose="020B0604020202020204" pitchFamily="34" charset="0"/>
              </a:rPr>
              <a:t>Houssein EH, Emam MM, Ali AA, et al. Explainable medical imaging using deep learning: a review. </a:t>
            </a:r>
            <a:r>
              <a:rPr kumimoji="0" lang="en-US" altLang="en-US" sz="1800" b="0" i="1" u="none" strike="noStrike" cap="none" normalizeH="0" baseline="0" dirty="0">
                <a:ln>
                  <a:noFill/>
                </a:ln>
                <a:solidFill>
                  <a:schemeClr val="tx1"/>
                </a:solidFill>
                <a:effectLst/>
                <a:latin typeface="Arial" panose="020B0604020202020204" pitchFamily="34" charset="0"/>
              </a:rPr>
              <a:t>Expert Syst Appl</a:t>
            </a:r>
            <a:r>
              <a:rPr kumimoji="0" lang="en-US" altLang="en-US" sz="1800" b="0" i="0" u="none" strike="noStrike" cap="none" normalizeH="0" baseline="0" dirty="0">
                <a:ln>
                  <a:noFill/>
                </a:ln>
                <a:solidFill>
                  <a:schemeClr val="tx1"/>
                </a:solidFill>
                <a:effectLst/>
                <a:latin typeface="Arial" panose="020B0604020202020204" pitchFamily="34" charset="0"/>
              </a:rPr>
              <a:t>. 2025;236:121225. doi:10.1016/j.eswa.2025.121225.</a:t>
            </a:r>
          </a:p>
        </p:txBody>
      </p:sp>
    </p:spTree>
    <p:extLst>
      <p:ext uri="{BB962C8B-B14F-4D97-AF65-F5344CB8AC3E}">
        <p14:creationId xmlns:p14="http://schemas.microsoft.com/office/powerpoint/2010/main" val="220930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body" idx="1"/>
          </p:nvPr>
        </p:nvSpPr>
        <p:spPr>
          <a:xfrm>
            <a:off x="101600" y="1038782"/>
            <a:ext cx="11978640" cy="52200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                                    </a:t>
            </a:r>
            <a:endParaRPr/>
          </a:p>
        </p:txBody>
      </p:sp>
      <p:sp>
        <p:nvSpPr>
          <p:cNvPr id="229" name="Google Shape;229;p30"/>
          <p:cNvSpPr txBox="1"/>
          <p:nvPr/>
        </p:nvSpPr>
        <p:spPr>
          <a:xfrm>
            <a:off x="4373281" y="3648782"/>
            <a:ext cx="5829497"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dirty="0">
                <a:solidFill>
                  <a:schemeClr val="dk1"/>
                </a:solidFill>
                <a:latin typeface="Calibri"/>
                <a:ea typeface="Calibri"/>
                <a:cs typeface="Calibri"/>
                <a:sym typeface="Calibri"/>
              </a:rPr>
              <a:t>Open to suggestions</a:t>
            </a:r>
            <a:endParaRPr sz="2800" b="0" i="0" u="none" strike="noStrike" cap="none" dirty="0">
              <a:solidFill>
                <a:schemeClr val="dk1"/>
              </a:solidFill>
              <a:latin typeface="Times New Roman"/>
              <a:ea typeface="Times New Roman"/>
              <a:cs typeface="Times New Roman"/>
              <a:sym typeface="Times New Roman"/>
            </a:endParaRPr>
          </a:p>
        </p:txBody>
      </p:sp>
      <p:sp>
        <p:nvSpPr>
          <p:cNvPr id="230" name="Google Shape;230;p30"/>
          <p:cNvSpPr txBox="1"/>
          <p:nvPr/>
        </p:nvSpPr>
        <p:spPr>
          <a:xfrm>
            <a:off x="2078229" y="1588655"/>
            <a:ext cx="7817400" cy="11079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600"/>
              <a:buFont typeface="Arial"/>
              <a:buNone/>
            </a:pPr>
            <a:r>
              <a:rPr lang="en-US" sz="6600" b="0" i="0" u="none" strike="noStrike" cap="none">
                <a:solidFill>
                  <a:schemeClr val="dk1"/>
                </a:solidFill>
                <a:latin typeface="Calibri"/>
                <a:ea typeface="Calibri"/>
                <a:cs typeface="Calibri"/>
                <a:sym typeface="Calibri"/>
              </a:rPr>
              <a:t>  </a:t>
            </a:r>
            <a:r>
              <a:rPr lang="en-US" sz="6600" b="0" i="0" u="none" strike="noStrike" cap="none">
                <a:solidFill>
                  <a:schemeClr val="dk1"/>
                </a:solidFill>
                <a:latin typeface="Times New Roman"/>
                <a:ea typeface="Times New Roman"/>
                <a:cs typeface="Times New Roman"/>
                <a:sym typeface="Times New Roman"/>
              </a:rPr>
              <a:t>THANK YOU</a:t>
            </a:r>
            <a:endParaRPr sz="6600" b="0" i="0" u="none" strike="noStrike" cap="none">
              <a:solidFill>
                <a:schemeClr val="dk1"/>
              </a:solidFill>
              <a:latin typeface="Times New Roman"/>
              <a:ea typeface="Times New Roman"/>
              <a:cs typeface="Times New Roman"/>
              <a:sym typeface="Times New Roman"/>
            </a:endParaRPr>
          </a:p>
        </p:txBody>
      </p:sp>
      <p:sp>
        <p:nvSpPr>
          <p:cNvPr id="231" name="Google Shape;231;p30"/>
          <p:cNvSpPr txBox="1">
            <a:spLocks noGrp="1"/>
          </p:cNvSpPr>
          <p:nvPr>
            <p:ph type="sldNum" idx="12"/>
          </p:nvPr>
        </p:nvSpPr>
        <p:spPr>
          <a:xfrm>
            <a:off x="9341400" y="6523670"/>
            <a:ext cx="2743200" cy="27432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28</a:t>
            </a:fld>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2476</Words>
  <Application>Microsoft Office PowerPoint</Application>
  <PresentationFormat>Widescreen</PresentationFormat>
  <Paragraphs>307</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Times New Roman</vt:lpstr>
      <vt:lpstr>Noto Sans Symbols</vt:lpstr>
      <vt:lpstr>Calibri</vt:lpstr>
      <vt:lpstr>Office Theme</vt:lpstr>
      <vt:lpstr>Department:    (Computer Vision FA1) Deep Transfer Learning for Skin Lesion Classification: A Study on HAM10000 </vt:lpstr>
      <vt:lpstr>Outline</vt:lpstr>
      <vt:lpstr>Introduction </vt:lpstr>
      <vt:lpstr>Problem Statement &amp; Objectives</vt:lpstr>
      <vt:lpstr>Motivation</vt:lpstr>
      <vt:lpstr>Literature Review  </vt:lpstr>
      <vt:lpstr>Literature Review  </vt:lpstr>
      <vt:lpstr>Literature Review  </vt:lpstr>
      <vt:lpstr>Literature Review  </vt:lpstr>
      <vt:lpstr>Literature Review  </vt:lpstr>
      <vt:lpstr>DATASET</vt:lpstr>
      <vt:lpstr>DATASET</vt:lpstr>
      <vt:lpstr>Methodology</vt:lpstr>
      <vt:lpstr>Methodology</vt:lpstr>
      <vt:lpstr>Methodology</vt:lpstr>
      <vt:lpstr>Methodology</vt:lpstr>
      <vt:lpstr>Plain CNN</vt:lpstr>
      <vt:lpstr>Plain CNN</vt:lpstr>
      <vt:lpstr>Plain CNN</vt:lpstr>
      <vt:lpstr>ResNet50</vt:lpstr>
      <vt:lpstr>Results</vt:lpstr>
      <vt:lpstr>Results</vt:lpstr>
      <vt:lpstr>PowerPoint Presentation</vt:lpstr>
      <vt:lpstr>PowerPoint Presentation</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ray</dc:creator>
  <cp:lastModifiedBy>rajeshwari golande</cp:lastModifiedBy>
  <cp:revision>6</cp:revision>
  <dcterms:modified xsi:type="dcterms:W3CDTF">2025-08-25T04:20:28Z</dcterms:modified>
</cp:coreProperties>
</file>